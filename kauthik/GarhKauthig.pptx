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Open on the title. Let the dhol-damau track set the mood. This is a surprise curtain-raiser — keep the energy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Define the word simply. Kauthig = a fair / celebration that brings the whole community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Five occasions when Kauthigs happen. Emphasise: it's woven into the farming calendar, faith, and now student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Dance, music, competitions, food, crafts, costume. Name the folk forms — students may get to learn some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Sell the value to students: culture, skills, stage time, confidence, friendships.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Introduce the mentor teams DevBhoomi and Uttarayani — the seniors who will train the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The hook: participate and win. Announce the cash prize of ₹11,000 with energy — this is the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Land the emotional line, then invite them in. Pause before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ontserrat"/>
              </a:rPr>
              <a:t>Close with warmth and a smile. Invite questions / sign-ups.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microsoft.com/office/2007/relationships/media" Target="../media/media1.m4a"/><Relationship Id="rId11" Type="http://schemas.openxmlformats.org/officeDocument/2006/relationships/audio" Target="../media/media1.m4a"/><Relationship Id="rId12" Type="http://schemas.openxmlformats.org/officeDocument/2006/relationships/image" Target="../media/image9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pic>
        <p:nvPicPr>
          <p:cNvPr id="4" name="Picture 3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-137160"/>
            <a:ext cx="12374879" cy="822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32104" y="996695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eyebrow"/>
          <p:cNvSpPr txBox="1"/>
          <p:nvPr/>
        </p:nvSpPr>
        <p:spPr>
          <a:xfrm>
            <a:off x="1078992" y="93268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Swaragini Cultural Club  ·  Presents</a:t>
            </a:r>
          </a:p>
        </p:txBody>
      </p:sp>
      <p:sp>
        <p:nvSpPr>
          <p:cNvPr id="7" name="hindi"/>
          <p:cNvSpPr txBox="1"/>
          <p:nvPr/>
        </p:nvSpPr>
        <p:spPr>
          <a:xfrm>
            <a:off x="841248" y="1371600"/>
            <a:ext cx="10509503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1800" b="1" i="0">
                <a:solidFill>
                  <a:srgbClr val="F5A81C"/>
                </a:solidFill>
                <a:latin typeface="Cinzel"/>
                <a:cs typeface="Nirmala UI"/>
                <a:ea typeface="Nirmala UI"/>
                <a:effectLst>
                  <a:outerShdw blurRad="330200" dist="63500" dir="5400000" rotWithShape="0">
                    <a:srgbClr val="000000">
                      <a:alpha val="55000"/>
                    </a:srgbClr>
                  </a:outerShdw>
                </a:effectLst>
              </a:rPr>
              <a:t>गढ़ कौथिग</a:t>
            </a:r>
          </a:p>
        </p:txBody>
      </p:sp>
      <p:sp>
        <p:nvSpPr>
          <p:cNvPr id="8" name="sub"/>
          <p:cNvSpPr txBox="1"/>
          <p:nvPr/>
        </p:nvSpPr>
        <p:spPr>
          <a:xfrm>
            <a:off x="841248" y="3566160"/>
            <a:ext cx="10509503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000" b="0" i="0">
                <a:solidFill>
                  <a:srgbClr val="FFFDF7"/>
                </a:solidFill>
                <a:latin typeface="Playfair Display"/>
                <a:effectLst>
                  <a:outerShdw blurRad="228600" dist="38100" dir="5400000" rotWithShape="0">
                    <a:srgbClr val="000000">
                      <a:alpha val="50000"/>
                    </a:srgbClr>
                  </a:outerShdw>
                </a:effectLst>
              </a:rPr>
              <a:t>A Celebration of Uttarakhand’s Culture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553712"/>
            <a:ext cx="2743200" cy="30480"/>
          </a:xfrm>
          <a:prstGeom prst="rect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ag"/>
          <p:cNvSpPr txBox="1"/>
          <p:nvPr/>
        </p:nvSpPr>
        <p:spPr>
          <a:xfrm>
            <a:off x="841248" y="4718304"/>
            <a:ext cx="105095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500" b="0" i="0" spc="240" cap="all">
                <a:solidFill>
                  <a:srgbClr val="F2CE7B"/>
                </a:solidFill>
                <a:latin typeface="Montserrat"/>
              </a:rPr>
              <a:t>Music  ·  Dance  ·  Food  ·  Craft  ·  Community</a:t>
            </a:r>
          </a:p>
        </p:txBody>
      </p:sp>
      <p:sp>
        <p:nvSpPr>
          <p:cNvPr id="11" name="photo"/>
          <p:cNvSpPr/>
          <p:nvPr/>
        </p:nvSpPr>
        <p:spPr>
          <a:xfrm>
            <a:off x="841248" y="5440680"/>
            <a:ext cx="1970227" cy="96012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F5A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v_dancer_F5A8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343" y="5704713"/>
            <a:ext cx="288036" cy="2880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6035954"/>
            <a:ext cx="197022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F5A81C"/>
                </a:solidFill>
                <a:latin typeface="Montserrat"/>
              </a:rPr>
              <a:t>PHOTO</a:t>
            </a:r>
          </a:p>
        </p:txBody>
      </p:sp>
      <p:sp>
        <p:nvSpPr>
          <p:cNvPr id="14" name="photo"/>
          <p:cNvSpPr/>
          <p:nvPr/>
        </p:nvSpPr>
        <p:spPr>
          <a:xfrm>
            <a:off x="2976067" y="5440680"/>
            <a:ext cx="1970227" cy="96012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E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ev_temple_E23A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162" y="5704713"/>
            <a:ext cx="288036" cy="2880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76067" y="6035954"/>
            <a:ext cx="197022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E23A2E"/>
                </a:solidFill>
                <a:latin typeface="Montserrat"/>
              </a:rPr>
              <a:t>PHOTO</a:t>
            </a:r>
          </a:p>
        </p:txBody>
      </p:sp>
      <p:sp>
        <p:nvSpPr>
          <p:cNvPr id="17" name="photo"/>
          <p:cNvSpPr/>
          <p:nvPr/>
        </p:nvSpPr>
        <p:spPr>
          <a:xfrm>
            <a:off x="5110886" y="5440680"/>
            <a:ext cx="1970227" cy="96012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17A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ev_dhol_17A6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1981" y="5704713"/>
            <a:ext cx="288036" cy="2880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10886" y="6035954"/>
            <a:ext cx="197022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17A6A0"/>
                </a:solidFill>
                <a:latin typeface="Montserrat"/>
              </a:rPr>
              <a:t>PHOTO</a:t>
            </a:r>
          </a:p>
        </p:txBody>
      </p:sp>
      <p:sp>
        <p:nvSpPr>
          <p:cNvPr id="20" name="photo"/>
          <p:cNvSpPr/>
          <p:nvPr/>
        </p:nvSpPr>
        <p:spPr>
          <a:xfrm>
            <a:off x="7245705" y="5440680"/>
            <a:ext cx="1970227" cy="96012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EE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ev_mountain_EE7B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801" y="5704713"/>
            <a:ext cx="288036" cy="288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45705" y="6035954"/>
            <a:ext cx="197022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EE7B1E"/>
                </a:solidFill>
                <a:latin typeface="Montserrat"/>
              </a:rPr>
              <a:t>PHOTO</a:t>
            </a:r>
          </a:p>
        </p:txBody>
      </p:sp>
      <p:sp>
        <p:nvSpPr>
          <p:cNvPr id="23" name="photo"/>
          <p:cNvSpPr/>
          <p:nvPr/>
        </p:nvSpPr>
        <p:spPr>
          <a:xfrm>
            <a:off x="9380524" y="5440680"/>
            <a:ext cx="1970227" cy="96012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D81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ev_hands_D81E6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1620" y="5704713"/>
            <a:ext cx="288036" cy="2880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80524" y="6035954"/>
            <a:ext cx="1970227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D81E6A"/>
                </a:solidFill>
                <a:latin typeface="Montserrat"/>
              </a:rPr>
              <a:t>PHOTO</a:t>
            </a:r>
          </a:p>
        </p:txBody>
      </p:sp>
      <p:pic>
        <p:nvPicPr>
          <p:cNvPr id="26" name="Ambient Score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679936" y="256032"/>
            <a:ext cx="365760" cy="365760"/>
          </a:xfrm>
          <a:prstGeom prst="rect">
            <a:avLst/>
          </a:prstGeom>
        </p:spPr>
      </p:pic>
      <p:sp>
        <p:nvSpPr>
          <p:cNvPr id="27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28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Curtain Raiser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000 L 0 0 " pathEditMode="relative" ptsTypes="AA">
                                      <p:cBhvr additive="base">
                                        <p:cTn id="130" dur="1500" decel="7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4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42" dur="1400" decel="7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22" presetClass="entr" presetSubtype="1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4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72" dur="1300" decel="7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42" presetClass="entr" presetSubtype="4" fill="hold" grpId="0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84" dur="1300" decel="7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42" presetClass="entr" presetSubtype="4" fill="hold" grpId="0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96" dur="1300" decel="7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42" presetClass="entr" presetSubtype="4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08" dur="1300" decel="7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42" presetClass="entr" presetSubtype="4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20" dur="1300" decel="7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0000">
                <p:cTn id="226" fill="hold" repeatCount="indefinite" display="0">
                  <p:stCondLst>
                    <p:cond delay="0"/>
                  </p:st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32104" y="795528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yebrow"/>
          <p:cNvSpPr txBox="1"/>
          <p:nvPr/>
        </p:nvSpPr>
        <p:spPr>
          <a:xfrm>
            <a:off x="1078992" y="7315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What It Means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841248" y="1115568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400" b="0" i="0">
                <a:solidFill>
                  <a:srgbClr val="FFFDF7"/>
                </a:solidFill>
                <a:latin typeface="Playfair Display"/>
              </a:rPr>
              <a:t>Garh Kauthig represents</a:t>
            </a:r>
          </a:p>
          <a:p>
            <a:r>
              <a:rPr sz="4400" b="0" i="0">
                <a:solidFill>
                  <a:srgbClr val="F5A81C"/>
                </a:solidFill>
                <a:latin typeface="Playfair Display"/>
              </a:rPr>
              <a:t>a celebration of belonging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2194560" cy="27940"/>
          </a:xfrm>
          <a:prstGeom prst="rect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841248" y="288036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28000"/>
              </a:lnSpc>
            </a:pPr>
            <a:r>
              <a:rPr sz="2400" b="0" i="1">
                <a:solidFill>
                  <a:srgbClr val="FFFDF7"/>
                </a:solidFill>
                <a:latin typeface="Cormorant Garamond"/>
              </a:rPr>
              <a:t>“Garh Kauthik” is a traditional Uttarakhandi word meaning a fair, festival or community celebration.</a:t>
            </a:r>
          </a:p>
          <a:p>
            <a:pPr>
              <a:lnSpc>
                <a:spcPct val="140000"/>
              </a:lnSpc>
              <a:spcBef>
                <a:spcPts val="1400"/>
              </a:spcBef>
            </a:pPr>
            <a:r>
              <a:rPr sz="1700" b="0" i="0">
                <a:solidFill>
                  <a:srgbClr val="F2CE7B"/>
                </a:solidFill>
                <a:latin typeface="Poppins"/>
              </a:rPr>
              <a:t>It brings people together to celebrate the region’s culture, music, dance, food, clothing and traditions.</a:t>
            </a:r>
          </a:p>
        </p:txBody>
      </p:sp>
      <p:sp>
        <p:nvSpPr>
          <p:cNvPr id="9" name="photo"/>
          <p:cNvSpPr/>
          <p:nvPr/>
        </p:nvSpPr>
        <p:spPr>
          <a:xfrm>
            <a:off x="6858000" y="1371600"/>
            <a:ext cx="4480560" cy="420624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F5A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ev_dhol_F5A8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528315"/>
            <a:ext cx="1261872" cy="1261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39794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F5A81C"/>
                </a:solidFill>
                <a:latin typeface="Montserrat"/>
              </a:rPr>
              <a:t>FESTIVAL PHOTO</a:t>
            </a:r>
          </a:p>
        </p:txBody>
      </p:sp>
      <p:sp>
        <p:nvSpPr>
          <p:cNvPr id="12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13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01 · Meaning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30" dur="130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22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4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51" dur="1300" decel="7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1500" decel="65000" fill="hold"/>
                                        <p:tgtEl>
                                          <p:spTgt spid="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12374879" cy="2148840"/>
          </a:xfrm>
          <a:prstGeom prst="rect">
            <a:avLst/>
          </a:prstGeom>
          <a:solidFill>
            <a:srgbClr val="0A3B2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32104" y="704088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yebrow"/>
          <p:cNvSpPr txBox="1"/>
          <p:nvPr/>
        </p:nvSpPr>
        <p:spPr>
          <a:xfrm>
            <a:off x="1078992" y="6400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Across The Hills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841248" y="1024128"/>
            <a:ext cx="10509503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3400" b="0" i="0">
                <a:solidFill>
                  <a:srgbClr val="FFFDF7"/>
                </a:solidFill>
                <a:latin typeface="Playfair Display"/>
              </a:rPr>
              <a:t>Where is Garh Kauthig celebrated?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841248" y="1627632"/>
            <a:ext cx="1050950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50" b="0" i="0">
                <a:solidFill>
                  <a:srgbClr val="F2CE7B"/>
                </a:solidFill>
                <a:latin typeface="Poppins"/>
              </a:rPr>
              <a:t>In villages, towns and cities across Uttarakhand — especially the Garhwal region. It comes alive during:</a:t>
            </a:r>
          </a:p>
        </p:txBody>
      </p:sp>
      <p:sp>
        <p:nvSpPr>
          <p:cNvPr id="8" name="photo"/>
          <p:cNvSpPr/>
          <p:nvPr/>
        </p:nvSpPr>
        <p:spPr>
          <a:xfrm>
            <a:off x="841248" y="2395728"/>
            <a:ext cx="1882444" cy="1691640"/>
          </a:xfrm>
          <a:prstGeom prst="roundRect">
            <a:avLst>
              <a:gd name="adj" fmla="val 4500"/>
            </a:avLst>
          </a:prstGeom>
          <a:solidFill>
            <a:srgbClr val="12583F">
              <a:alpha val="30000"/>
            </a:srgbClr>
          </a:solidFill>
          <a:ln w="30480">
            <a:solidFill>
              <a:srgbClr val="F5A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v_seedling_F5A8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24" y="2860929"/>
            <a:ext cx="507492" cy="5074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444544"/>
            <a:ext cx="18824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F5A81C"/>
                </a:solidFill>
                <a:latin typeface="Montserrat"/>
              </a:rPr>
              <a:t>PHOTO</a:t>
            </a:r>
          </a:p>
        </p:txBody>
      </p:sp>
      <p:sp>
        <p:nvSpPr>
          <p:cNvPr id="11" name="Oval 10"/>
          <p:cNvSpPr/>
          <p:nvPr/>
        </p:nvSpPr>
        <p:spPr>
          <a:xfrm>
            <a:off x="1499006" y="3995928"/>
            <a:ext cx="566928" cy="5669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v_seedling_1224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730" y="4120652"/>
            <a:ext cx="317479" cy="317479"/>
          </a:xfrm>
          <a:prstGeom prst="rect">
            <a:avLst/>
          </a:prstGeom>
        </p:spPr>
      </p:pic>
      <p:sp>
        <p:nvSpPr>
          <p:cNvPr id="13" name="wh"/>
          <p:cNvSpPr txBox="1"/>
          <p:nvPr/>
        </p:nvSpPr>
        <p:spPr>
          <a:xfrm>
            <a:off x="749808" y="4645152"/>
            <a:ext cx="206532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 spc="60" cap="all">
                <a:solidFill>
                  <a:srgbClr val="0A3B2C"/>
                </a:solidFill>
                <a:latin typeface="Montserrat"/>
              </a:rPr>
              <a:t>HARVEST FESTIVALS</a:t>
            </a:r>
          </a:p>
        </p:txBody>
      </p:sp>
      <p:sp>
        <p:nvSpPr>
          <p:cNvPr id="14" name="wb"/>
          <p:cNvSpPr txBox="1"/>
          <p:nvPr/>
        </p:nvSpPr>
        <p:spPr>
          <a:xfrm>
            <a:off x="749808" y="5029200"/>
            <a:ext cx="206532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2A4034"/>
                </a:solidFill>
                <a:latin typeface="Poppins"/>
              </a:rPr>
              <a:t>Gratitude for bountiful crops and agricultural prosperity.</a:t>
            </a:r>
          </a:p>
        </p:txBody>
      </p:sp>
      <p:sp>
        <p:nvSpPr>
          <p:cNvPr id="15" name="photo"/>
          <p:cNvSpPr/>
          <p:nvPr/>
        </p:nvSpPr>
        <p:spPr>
          <a:xfrm>
            <a:off x="2998012" y="2395728"/>
            <a:ext cx="1882444" cy="1691640"/>
          </a:xfrm>
          <a:prstGeom prst="roundRect">
            <a:avLst>
              <a:gd name="adj" fmla="val 4500"/>
            </a:avLst>
          </a:prstGeom>
          <a:solidFill>
            <a:srgbClr val="12583F">
              <a:alpha val="30000"/>
            </a:srgbClr>
          </a:solidFill>
          <a:ln w="30480">
            <a:solidFill>
              <a:srgbClr val="E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v_temple_E23A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489" y="2860929"/>
            <a:ext cx="507492" cy="5074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98012" y="3444544"/>
            <a:ext cx="18824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E23A2E"/>
                </a:solidFill>
                <a:latin typeface="Montserrat"/>
              </a:rPr>
              <a:t>PHOTO</a:t>
            </a:r>
          </a:p>
        </p:txBody>
      </p:sp>
      <p:sp>
        <p:nvSpPr>
          <p:cNvPr id="18" name="Oval 17"/>
          <p:cNvSpPr/>
          <p:nvPr/>
        </p:nvSpPr>
        <p:spPr>
          <a:xfrm>
            <a:off x="3655771" y="3995928"/>
            <a:ext cx="566928" cy="566928"/>
          </a:xfrm>
          <a:prstGeom prst="ellipse">
            <a:avLst/>
          </a:prstGeom>
          <a:solidFill>
            <a:srgbClr val="E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ev_temple_1224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495" y="4120652"/>
            <a:ext cx="317479" cy="317479"/>
          </a:xfrm>
          <a:prstGeom prst="rect">
            <a:avLst/>
          </a:prstGeom>
        </p:spPr>
      </p:pic>
      <p:sp>
        <p:nvSpPr>
          <p:cNvPr id="20" name="wh"/>
          <p:cNvSpPr txBox="1"/>
          <p:nvPr/>
        </p:nvSpPr>
        <p:spPr>
          <a:xfrm>
            <a:off x="2906572" y="4645152"/>
            <a:ext cx="206532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 spc="60" cap="all">
                <a:solidFill>
                  <a:srgbClr val="0A3B2C"/>
                </a:solidFill>
                <a:latin typeface="Montserrat"/>
              </a:rPr>
              <a:t>SACRED DAYS</a:t>
            </a:r>
          </a:p>
        </p:txBody>
      </p:sp>
      <p:sp>
        <p:nvSpPr>
          <p:cNvPr id="21" name="wb"/>
          <p:cNvSpPr txBox="1"/>
          <p:nvPr/>
        </p:nvSpPr>
        <p:spPr>
          <a:xfrm>
            <a:off x="2906572" y="5029200"/>
            <a:ext cx="206532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2A4034"/>
                </a:solidFill>
                <a:latin typeface="Poppins"/>
              </a:rPr>
              <a:t>Rituals and spiritual observances across mountain hamlets.</a:t>
            </a:r>
          </a:p>
        </p:txBody>
      </p:sp>
      <p:sp>
        <p:nvSpPr>
          <p:cNvPr id="22" name="photo"/>
          <p:cNvSpPr/>
          <p:nvPr/>
        </p:nvSpPr>
        <p:spPr>
          <a:xfrm>
            <a:off x="5154777" y="2395728"/>
            <a:ext cx="1882444" cy="1691640"/>
          </a:xfrm>
          <a:prstGeom prst="roundRect">
            <a:avLst>
              <a:gd name="adj" fmla="val 4500"/>
            </a:avLst>
          </a:prstGeom>
          <a:solidFill>
            <a:srgbClr val="12583F">
              <a:alpha val="30000"/>
            </a:srgbClr>
          </a:solidFill>
          <a:ln w="30480">
            <a:solidFill>
              <a:srgbClr val="17A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v_cart_17A6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253" y="2860929"/>
            <a:ext cx="507492" cy="5074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4777" y="3444544"/>
            <a:ext cx="18824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17A6A0"/>
                </a:solidFill>
                <a:latin typeface="Montserrat"/>
              </a:rPr>
              <a:t>PHOTO</a:t>
            </a:r>
          </a:p>
        </p:txBody>
      </p:sp>
      <p:sp>
        <p:nvSpPr>
          <p:cNvPr id="25" name="Oval 24"/>
          <p:cNvSpPr/>
          <p:nvPr/>
        </p:nvSpPr>
        <p:spPr>
          <a:xfrm>
            <a:off x="5812535" y="3995928"/>
            <a:ext cx="566928" cy="566928"/>
          </a:xfrm>
          <a:prstGeom prst="ellipse">
            <a:avLst/>
          </a:prstGeom>
          <a:solidFill>
            <a:srgbClr val="17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ev_cart_1224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260" y="4120652"/>
            <a:ext cx="317479" cy="317479"/>
          </a:xfrm>
          <a:prstGeom prst="rect">
            <a:avLst/>
          </a:prstGeom>
        </p:spPr>
      </p:pic>
      <p:sp>
        <p:nvSpPr>
          <p:cNvPr id="27" name="wh"/>
          <p:cNvSpPr txBox="1"/>
          <p:nvPr/>
        </p:nvSpPr>
        <p:spPr>
          <a:xfrm>
            <a:off x="5063337" y="4645152"/>
            <a:ext cx="206532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 spc="60" cap="all">
                <a:solidFill>
                  <a:srgbClr val="0A3B2C"/>
                </a:solidFill>
                <a:latin typeface="Montserrat"/>
              </a:rPr>
              <a:t>COMMUNITY MELAS</a:t>
            </a:r>
          </a:p>
        </p:txBody>
      </p:sp>
      <p:sp>
        <p:nvSpPr>
          <p:cNvPr id="28" name="wb"/>
          <p:cNvSpPr txBox="1"/>
          <p:nvPr/>
        </p:nvSpPr>
        <p:spPr>
          <a:xfrm>
            <a:off x="5063337" y="5029200"/>
            <a:ext cx="206532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2A4034"/>
                </a:solidFill>
                <a:latin typeface="Poppins"/>
              </a:rPr>
              <a:t>Seasonal harvest gatherings and regional marketplaces.</a:t>
            </a:r>
          </a:p>
        </p:txBody>
      </p:sp>
      <p:sp>
        <p:nvSpPr>
          <p:cNvPr id="29" name="photo"/>
          <p:cNvSpPr/>
          <p:nvPr/>
        </p:nvSpPr>
        <p:spPr>
          <a:xfrm>
            <a:off x="7311542" y="2395728"/>
            <a:ext cx="1882444" cy="1691640"/>
          </a:xfrm>
          <a:prstGeom prst="roundRect">
            <a:avLst>
              <a:gd name="adj" fmla="val 4500"/>
            </a:avLst>
          </a:prstGeom>
          <a:solidFill>
            <a:srgbClr val="12583F">
              <a:alpha val="30000"/>
            </a:srgbClr>
          </a:solidFill>
          <a:ln w="30480">
            <a:solidFill>
              <a:srgbClr val="EE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ev_flag_EE7B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9018" y="2860929"/>
            <a:ext cx="507492" cy="5074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11542" y="3444544"/>
            <a:ext cx="18824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EE7B1E"/>
                </a:solidFill>
                <a:latin typeface="Montserrat"/>
              </a:rPr>
              <a:t>PHOTO</a:t>
            </a:r>
          </a:p>
        </p:txBody>
      </p:sp>
      <p:sp>
        <p:nvSpPr>
          <p:cNvPr id="32" name="Oval 31"/>
          <p:cNvSpPr/>
          <p:nvPr/>
        </p:nvSpPr>
        <p:spPr>
          <a:xfrm>
            <a:off x="7969300" y="3995928"/>
            <a:ext cx="566928" cy="566928"/>
          </a:xfrm>
          <a:prstGeom prst="ellipse">
            <a:avLst/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ev_flag_12241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4024" y="4120652"/>
            <a:ext cx="317479" cy="317479"/>
          </a:xfrm>
          <a:prstGeom prst="rect">
            <a:avLst/>
          </a:prstGeom>
        </p:spPr>
      </p:pic>
      <p:sp>
        <p:nvSpPr>
          <p:cNvPr id="34" name="wh"/>
          <p:cNvSpPr txBox="1"/>
          <p:nvPr/>
        </p:nvSpPr>
        <p:spPr>
          <a:xfrm>
            <a:off x="7220102" y="4645152"/>
            <a:ext cx="206532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 spc="60" cap="all">
                <a:solidFill>
                  <a:srgbClr val="0A3B2C"/>
                </a:solidFill>
                <a:latin typeface="Montserrat"/>
              </a:rPr>
              <a:t>TEMPLE PROCESSIONS</a:t>
            </a:r>
          </a:p>
        </p:txBody>
      </p:sp>
      <p:sp>
        <p:nvSpPr>
          <p:cNvPr id="35" name="wb"/>
          <p:cNvSpPr txBox="1"/>
          <p:nvPr/>
        </p:nvSpPr>
        <p:spPr>
          <a:xfrm>
            <a:off x="7220102" y="5029200"/>
            <a:ext cx="206532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2A4034"/>
                </a:solidFill>
                <a:latin typeface="Poppins"/>
              </a:rPr>
              <a:t>Annual deity processions and community thanksgiving melas.</a:t>
            </a:r>
          </a:p>
        </p:txBody>
      </p:sp>
      <p:sp>
        <p:nvSpPr>
          <p:cNvPr id="36" name="photo"/>
          <p:cNvSpPr/>
          <p:nvPr/>
        </p:nvSpPr>
        <p:spPr>
          <a:xfrm>
            <a:off x="9468307" y="2395728"/>
            <a:ext cx="1882444" cy="1691640"/>
          </a:xfrm>
          <a:prstGeom prst="roundRect">
            <a:avLst>
              <a:gd name="adj" fmla="val 4500"/>
            </a:avLst>
          </a:prstGeom>
          <a:solidFill>
            <a:srgbClr val="12583F">
              <a:alpha val="30000"/>
            </a:srgbClr>
          </a:solidFill>
          <a:ln w="30480">
            <a:solidFill>
              <a:srgbClr val="D81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ev_youth_D81E6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5783" y="2860929"/>
            <a:ext cx="507492" cy="5074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68307" y="3444544"/>
            <a:ext cx="18824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D81E6A"/>
                </a:solidFill>
                <a:latin typeface="Montserrat"/>
              </a:rPr>
              <a:t>PHOTO</a:t>
            </a:r>
          </a:p>
        </p:txBody>
      </p:sp>
      <p:sp>
        <p:nvSpPr>
          <p:cNvPr id="39" name="Oval 38"/>
          <p:cNvSpPr/>
          <p:nvPr/>
        </p:nvSpPr>
        <p:spPr>
          <a:xfrm>
            <a:off x="10126065" y="3995928"/>
            <a:ext cx="566928" cy="566928"/>
          </a:xfrm>
          <a:prstGeom prst="ellipse">
            <a:avLst/>
          </a:prstGeom>
          <a:solidFill>
            <a:srgbClr val="D81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ev_youth_12241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0789" y="4120652"/>
            <a:ext cx="317479" cy="317479"/>
          </a:xfrm>
          <a:prstGeom prst="rect">
            <a:avLst/>
          </a:prstGeom>
        </p:spPr>
      </p:pic>
      <p:sp>
        <p:nvSpPr>
          <p:cNvPr id="41" name="wh"/>
          <p:cNvSpPr txBox="1"/>
          <p:nvPr/>
        </p:nvSpPr>
        <p:spPr>
          <a:xfrm>
            <a:off x="9376867" y="4645152"/>
            <a:ext cx="206532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1" i="0" spc="60" cap="all">
                <a:solidFill>
                  <a:srgbClr val="0A3B2C"/>
                </a:solidFill>
                <a:latin typeface="Montserrat"/>
              </a:rPr>
              <a:t>MODERN PLATFORMS</a:t>
            </a:r>
          </a:p>
        </p:txBody>
      </p:sp>
      <p:sp>
        <p:nvSpPr>
          <p:cNvPr id="42" name="wb"/>
          <p:cNvSpPr txBox="1"/>
          <p:nvPr/>
        </p:nvSpPr>
        <p:spPr>
          <a:xfrm>
            <a:off x="9376867" y="5029200"/>
            <a:ext cx="206532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2A4034"/>
                </a:solidFill>
                <a:latin typeface="Poppins"/>
              </a:rPr>
              <a:t>Bringing youth together to celebrate folk arts and identity.</a:t>
            </a:r>
          </a:p>
        </p:txBody>
      </p:sp>
      <p:sp>
        <p:nvSpPr>
          <p:cNvPr id="43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44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02 · Where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42" dur="1300" decel="7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42" presetClass="entr" presetSubtype="4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54" dur="1300" decel="7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42" presetClass="entr" presetSubtype="4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66" dur="1300" decel="7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42" presetClass="entr" presetSubtype="4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78" dur="1300" decel="7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42" presetClass="entr" presetSubtype="4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90" dur="1300" decel="7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4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02" dur="1300" decel="7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42" presetClass="entr" presetSubtype="4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14" dur="1300" decel="7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42" presetClass="entr" presetSubtype="4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26" dur="1300" decel="7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42" presetClass="entr" presetSubtype="4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38" dur="1300" decel="7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42" presetClass="entr" presetSubtype="4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50" dur="1300" decel="7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4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62" dur="1300" decel="7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42" presetClass="entr" presetSubtype="4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74" dur="1300" decel="7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42" presetClass="entr" presetSubtype="4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86" dur="1300" decel="7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42" presetClass="entr" presetSubtype="4" fill="hold" grpId="0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98" dur="1300" decel="7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42" presetClass="entr" presetSubtype="4" fill="hold" grpId="0" nodeType="withEffect">
                                  <p:stCondLst>
                                    <p:cond delay="296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310" dur="1300" decel="7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32104" y="795528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yebrow"/>
          <p:cNvSpPr txBox="1"/>
          <p:nvPr/>
        </p:nvSpPr>
        <p:spPr>
          <a:xfrm>
            <a:off x="1078992" y="7315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The Experience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841248" y="109728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000" b="0" i="0">
                <a:solidFill>
                  <a:srgbClr val="FFFDF7"/>
                </a:solidFill>
                <a:latin typeface="Playfair Display"/>
              </a:rPr>
              <a:t>What happens at a</a:t>
            </a:r>
          </a:p>
          <a:p>
            <a:r>
              <a:rPr sz="4000" b="0" i="0">
                <a:solidFill>
                  <a:srgbClr val="F5A81C"/>
                </a:solidFill>
                <a:latin typeface="Playfair Display"/>
              </a:rPr>
              <a:t>Garh Kauthig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2596896"/>
            <a:ext cx="548640" cy="548640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v_dancer_1224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" y="2717596"/>
            <a:ext cx="307238" cy="307238"/>
          </a:xfrm>
          <a:prstGeom prst="rect">
            <a:avLst/>
          </a:prstGeom>
        </p:spPr>
      </p:pic>
      <p:sp>
        <p:nvSpPr>
          <p:cNvPr id="9" name="act"/>
          <p:cNvSpPr txBox="1"/>
          <p:nvPr/>
        </p:nvSpPr>
        <p:spPr>
          <a:xfrm>
            <a:off x="1618488" y="26517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2000"/>
              </a:lnSpc>
            </a:pPr>
            <a:r>
              <a:rPr sz="1650" b="0" i="0">
                <a:solidFill>
                  <a:srgbClr val="FFFDF7"/>
                </a:solidFill>
                <a:latin typeface="Poppins"/>
              </a:rPr>
              <a:t>Garhwali &amp; Kumaoni folk dance and music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3346704"/>
            <a:ext cx="548640" cy="548640"/>
          </a:xfrm>
          <a:prstGeom prst="ellipse">
            <a:avLst/>
          </a:prstGeom>
          <a:solidFill>
            <a:srgbClr val="E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ev_flag_1224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" y="3467404"/>
            <a:ext cx="307238" cy="307238"/>
          </a:xfrm>
          <a:prstGeom prst="rect">
            <a:avLst/>
          </a:prstGeom>
        </p:spPr>
      </p:pic>
      <p:sp>
        <p:nvSpPr>
          <p:cNvPr id="12" name="act"/>
          <p:cNvSpPr txBox="1"/>
          <p:nvPr/>
        </p:nvSpPr>
        <p:spPr>
          <a:xfrm>
            <a:off x="1618488" y="340156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2000"/>
              </a:lnSpc>
            </a:pPr>
            <a:r>
              <a:rPr sz="1650" b="0" i="0">
                <a:solidFill>
                  <a:srgbClr val="FFFDF7"/>
                </a:solidFill>
                <a:latin typeface="Poppins"/>
              </a:rPr>
              <a:t>Cultural competitions and regional games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4096512"/>
            <a:ext cx="548640" cy="548640"/>
          </a:xfrm>
          <a:prstGeom prst="ellipse">
            <a:avLst/>
          </a:prstGeom>
          <a:solidFill>
            <a:srgbClr val="17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ev_sweet_1224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" y="4217212"/>
            <a:ext cx="307238" cy="307238"/>
          </a:xfrm>
          <a:prstGeom prst="rect">
            <a:avLst/>
          </a:prstGeom>
        </p:spPr>
      </p:pic>
      <p:sp>
        <p:nvSpPr>
          <p:cNvPr id="15" name="act"/>
          <p:cNvSpPr txBox="1"/>
          <p:nvPr/>
        </p:nvSpPr>
        <p:spPr>
          <a:xfrm>
            <a:off x="1618488" y="4151376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2000"/>
              </a:lnSpc>
            </a:pPr>
            <a:r>
              <a:rPr sz="1650" b="0" i="0">
                <a:solidFill>
                  <a:srgbClr val="FFFDF7"/>
                </a:solidFill>
                <a:latin typeface="Poppins"/>
              </a:rPr>
              <a:t>Local, authentic food stalls and handicrafts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4846320"/>
            <a:ext cx="548640" cy="548640"/>
          </a:xfrm>
          <a:prstGeom prst="ellipse">
            <a:avLst/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ev_jewel_1224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" y="4967020"/>
            <a:ext cx="307238" cy="307238"/>
          </a:xfrm>
          <a:prstGeom prst="rect">
            <a:avLst/>
          </a:prstGeom>
        </p:spPr>
      </p:pic>
      <p:sp>
        <p:nvSpPr>
          <p:cNvPr id="18" name="act"/>
          <p:cNvSpPr txBox="1"/>
          <p:nvPr/>
        </p:nvSpPr>
        <p:spPr>
          <a:xfrm>
            <a:off x="1618488" y="4901183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2000"/>
              </a:lnSpc>
            </a:pPr>
            <a:r>
              <a:rPr sz="1650" b="0" i="0">
                <a:solidFill>
                  <a:srgbClr val="FFFDF7"/>
                </a:solidFill>
                <a:latin typeface="Poppins"/>
              </a:rPr>
              <a:t>Traditional clothing and mountain jewellery</a:t>
            </a:r>
          </a:p>
        </p:txBody>
      </p:sp>
      <p:sp>
        <p:nvSpPr>
          <p:cNvPr id="19" name="panel"/>
          <p:cNvSpPr/>
          <p:nvPr/>
        </p:nvSpPr>
        <p:spPr>
          <a:xfrm>
            <a:off x="6583680" y="1371600"/>
            <a:ext cx="4754880" cy="4206240"/>
          </a:xfrm>
          <a:prstGeom prst="roundRect">
            <a:avLst>
              <a:gd name="adj" fmla="val 5000"/>
            </a:avLst>
          </a:prstGeom>
          <a:solidFill>
            <a:srgbClr val="F5A81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h"/>
          <p:cNvSpPr txBox="1"/>
          <p:nvPr/>
        </p:nvSpPr>
        <p:spPr>
          <a:xfrm>
            <a:off x="6903720" y="16916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300" b="1" i="0" spc="120" cap="all">
                <a:solidFill>
                  <a:srgbClr val="0A3B2C"/>
                </a:solidFill>
                <a:latin typeface="Montserrat"/>
              </a:rPr>
              <a:t>POPULAR FOLK PERFORMANCES</a:t>
            </a:r>
          </a:p>
        </p:txBody>
      </p:sp>
      <p:sp>
        <p:nvSpPr>
          <p:cNvPr id="21" name="pv"/>
          <p:cNvSpPr txBox="1"/>
          <p:nvPr/>
        </p:nvSpPr>
        <p:spPr>
          <a:xfrm>
            <a:off x="6903720" y="2331720"/>
            <a:ext cx="4160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22000"/>
              </a:lnSpc>
            </a:pPr>
            <a:r>
              <a:rPr sz="2000" b="0" i="0">
                <a:solidFill>
                  <a:srgbClr val="12241C"/>
                </a:solidFill>
                <a:latin typeface="Playfair Display"/>
              </a:rPr>
              <a:t>Jhora  ·  Chanchari  ·  Chholiya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2000" b="0" i="0">
                <a:solidFill>
                  <a:srgbClr val="12241C"/>
                </a:solidFill>
                <a:latin typeface="Playfair Display"/>
              </a:rPr>
              <a:t>Pandav Nritya  ·  Langvir Nritya</a:t>
            </a:r>
          </a:p>
        </p:txBody>
      </p:sp>
      <p:sp>
        <p:nvSpPr>
          <p:cNvPr id="22" name="pb"/>
          <p:cNvSpPr txBox="1"/>
          <p:nvPr/>
        </p:nvSpPr>
        <p:spPr>
          <a:xfrm>
            <a:off x="6903720" y="3611880"/>
            <a:ext cx="41605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34000"/>
              </a:lnSpc>
            </a:pPr>
            <a:r>
              <a:rPr sz="1300" b="0" i="0">
                <a:solidFill>
                  <a:srgbClr val="0A3B2C"/>
                </a:solidFill>
                <a:latin typeface="Poppins"/>
              </a:rPr>
              <a:t>Mesmerising performances that showcase the martial spirit and living culture of the mountains — danced in a circle, together.</a:t>
            </a:r>
          </a:p>
        </p:txBody>
      </p:sp>
      <p:sp>
        <p:nvSpPr>
          <p:cNvPr id="23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24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03 · What Happens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30" dur="130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4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42" dur="1300" decel="7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4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54" dur="1300" decel="7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4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66" dur="1300" decel="7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4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78" dur="1300" decel="7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1200" decel="650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42" presetClass="entr" presetSubtype="4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11" dur="1200" decel="7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cool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32104" y="795528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1078992" y="7315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EE7B1E"/>
                </a:solidFill>
                <a:latin typeface="Montserrat"/>
              </a:rPr>
              <a:t>For Every Participant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41248" y="1115568"/>
            <a:ext cx="105095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000" b="0" i="0">
                <a:solidFill>
                  <a:srgbClr val="0A3B2C"/>
                </a:solidFill>
                <a:latin typeface="Playfair Display"/>
              </a:rPr>
              <a:t>What will this event offer you?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841248" y="19659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500" b="0" i="0">
                <a:solidFill>
                  <a:srgbClr val="EE7B1E"/>
                </a:solidFill>
                <a:latin typeface="Poppins"/>
              </a:rPr>
              <a:t>A chance to grow — culturally, creatively and personally:</a:t>
            </a:r>
          </a:p>
        </p:txBody>
      </p:sp>
      <p:sp>
        <p:nvSpPr>
          <p:cNvPr id="7" name="ocard"/>
          <p:cNvSpPr/>
          <p:nvPr/>
        </p:nvSpPr>
        <p:spPr>
          <a:xfrm>
            <a:off x="841248" y="2651760"/>
            <a:ext cx="5071871" cy="932688"/>
          </a:xfrm>
          <a:prstGeom prst="roundRect">
            <a:avLst>
              <a:gd name="adj" fmla="val 8000"/>
            </a:avLst>
          </a:prstGeom>
          <a:solidFill>
            <a:srgbClr val="FFFDF7">
              <a:alpha val="100000"/>
            </a:srgbClr>
          </a:solidFill>
          <a:ln w="20320">
            <a:solidFill>
              <a:srgbClr val="F5A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60704" y="2834640"/>
            <a:ext cx="566928" cy="5669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v_book_1224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28" y="2959364"/>
            <a:ext cx="317479" cy="317479"/>
          </a:xfrm>
          <a:prstGeom prst="rect">
            <a:avLst/>
          </a:prstGeom>
        </p:spPr>
      </p:pic>
      <p:sp>
        <p:nvSpPr>
          <p:cNvPr id="10" name="ot"/>
          <p:cNvSpPr txBox="1"/>
          <p:nvPr/>
        </p:nvSpPr>
        <p:spPr>
          <a:xfrm>
            <a:off x="1755648" y="2651760"/>
            <a:ext cx="3974591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14000"/>
              </a:lnSpc>
            </a:pPr>
            <a:r>
              <a:rPr sz="1500" b="0" i="0">
                <a:solidFill>
                  <a:srgbClr val="0A3B2C"/>
                </a:solidFill>
                <a:latin typeface="Poppins"/>
              </a:rPr>
              <a:t>Learn about Uttarakhand’s rich culture</a:t>
            </a:r>
          </a:p>
        </p:txBody>
      </p:sp>
      <p:sp>
        <p:nvSpPr>
          <p:cNvPr id="11" name="ocard"/>
          <p:cNvSpPr/>
          <p:nvPr/>
        </p:nvSpPr>
        <p:spPr>
          <a:xfrm>
            <a:off x="6278879" y="2651760"/>
            <a:ext cx="5071871" cy="932688"/>
          </a:xfrm>
          <a:prstGeom prst="roundRect">
            <a:avLst>
              <a:gd name="adj" fmla="val 8000"/>
            </a:avLst>
          </a:prstGeom>
          <a:solidFill>
            <a:srgbClr val="FFFDF7">
              <a:alpha val="100000"/>
            </a:srgbClr>
          </a:solidFill>
          <a:ln w="20320">
            <a:solidFill>
              <a:srgbClr val="E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98335" y="2834640"/>
            <a:ext cx="566928" cy="566928"/>
          </a:xfrm>
          <a:prstGeom prst="ellipse">
            <a:avLst/>
          </a:prstGeom>
          <a:solidFill>
            <a:srgbClr val="E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ev_hands_1224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060" y="2959364"/>
            <a:ext cx="317479" cy="317479"/>
          </a:xfrm>
          <a:prstGeom prst="rect">
            <a:avLst/>
          </a:prstGeom>
        </p:spPr>
      </p:pic>
      <p:sp>
        <p:nvSpPr>
          <p:cNvPr id="14" name="ot"/>
          <p:cNvSpPr txBox="1"/>
          <p:nvPr/>
        </p:nvSpPr>
        <p:spPr>
          <a:xfrm>
            <a:off x="7193279" y="2651760"/>
            <a:ext cx="3974591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14000"/>
              </a:lnSpc>
            </a:pPr>
            <a:r>
              <a:rPr sz="1500" b="0" i="0">
                <a:solidFill>
                  <a:srgbClr val="0A3B2C"/>
                </a:solidFill>
                <a:latin typeface="Poppins"/>
              </a:rPr>
              <a:t>Develop creative and performance skills</a:t>
            </a:r>
          </a:p>
        </p:txBody>
      </p:sp>
      <p:sp>
        <p:nvSpPr>
          <p:cNvPr id="15" name="ocard"/>
          <p:cNvSpPr/>
          <p:nvPr/>
        </p:nvSpPr>
        <p:spPr>
          <a:xfrm>
            <a:off x="841248" y="3767328"/>
            <a:ext cx="5071871" cy="932688"/>
          </a:xfrm>
          <a:prstGeom prst="roundRect">
            <a:avLst>
              <a:gd name="adj" fmla="val 8000"/>
            </a:avLst>
          </a:prstGeom>
          <a:solidFill>
            <a:srgbClr val="FFFDF7">
              <a:alpha val="100000"/>
            </a:srgbClr>
          </a:solidFill>
          <a:ln w="20320">
            <a:solidFill>
              <a:srgbClr val="17A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60704" y="3950208"/>
            <a:ext cx="566928" cy="566928"/>
          </a:xfrm>
          <a:prstGeom prst="ellipse">
            <a:avLst/>
          </a:prstGeom>
          <a:solidFill>
            <a:srgbClr val="17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ev_dhol_1224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428" y="4074932"/>
            <a:ext cx="317479" cy="317479"/>
          </a:xfrm>
          <a:prstGeom prst="rect">
            <a:avLst/>
          </a:prstGeom>
        </p:spPr>
      </p:pic>
      <p:sp>
        <p:nvSpPr>
          <p:cNvPr id="18" name="ot"/>
          <p:cNvSpPr txBox="1"/>
          <p:nvPr/>
        </p:nvSpPr>
        <p:spPr>
          <a:xfrm>
            <a:off x="1755648" y="3767328"/>
            <a:ext cx="3974591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14000"/>
              </a:lnSpc>
            </a:pPr>
            <a:r>
              <a:rPr sz="1500" b="0" i="0">
                <a:solidFill>
                  <a:srgbClr val="0A3B2C"/>
                </a:solidFill>
                <a:latin typeface="Poppins"/>
              </a:rPr>
              <a:t>Experience traditional music and dance</a:t>
            </a:r>
          </a:p>
        </p:txBody>
      </p:sp>
      <p:sp>
        <p:nvSpPr>
          <p:cNvPr id="19" name="ocard"/>
          <p:cNvSpPr/>
          <p:nvPr/>
        </p:nvSpPr>
        <p:spPr>
          <a:xfrm>
            <a:off x="6278879" y="3767328"/>
            <a:ext cx="5071871" cy="932688"/>
          </a:xfrm>
          <a:prstGeom prst="roundRect">
            <a:avLst>
              <a:gd name="adj" fmla="val 8000"/>
            </a:avLst>
          </a:prstGeom>
          <a:solidFill>
            <a:srgbClr val="FFFDF7">
              <a:alpha val="100000"/>
            </a:srgbClr>
          </a:solidFill>
          <a:ln w="20320">
            <a:solidFill>
              <a:srgbClr val="EE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98335" y="3950208"/>
            <a:ext cx="566928" cy="566928"/>
          </a:xfrm>
          <a:prstGeom prst="ellipse">
            <a:avLst/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ev_sunrise_1224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060" y="4074932"/>
            <a:ext cx="317479" cy="317479"/>
          </a:xfrm>
          <a:prstGeom prst="rect">
            <a:avLst/>
          </a:prstGeom>
        </p:spPr>
      </p:pic>
      <p:sp>
        <p:nvSpPr>
          <p:cNvPr id="22" name="ot"/>
          <p:cNvSpPr txBox="1"/>
          <p:nvPr/>
        </p:nvSpPr>
        <p:spPr>
          <a:xfrm>
            <a:off x="7193279" y="3767328"/>
            <a:ext cx="3974591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14000"/>
              </a:lnSpc>
            </a:pPr>
            <a:r>
              <a:rPr sz="1500" b="0" i="0">
                <a:solidFill>
                  <a:srgbClr val="0A3B2C"/>
                </a:solidFill>
                <a:latin typeface="Poppins"/>
              </a:rPr>
              <a:t>An exclusive opportunity to showcase your talent</a:t>
            </a:r>
          </a:p>
        </p:txBody>
      </p:sp>
      <p:sp>
        <p:nvSpPr>
          <p:cNvPr id="23" name="ocard"/>
          <p:cNvSpPr/>
          <p:nvPr/>
        </p:nvSpPr>
        <p:spPr>
          <a:xfrm>
            <a:off x="3560063" y="4882896"/>
            <a:ext cx="5071871" cy="932688"/>
          </a:xfrm>
          <a:prstGeom prst="roundRect">
            <a:avLst>
              <a:gd name="adj" fmla="val 8000"/>
            </a:avLst>
          </a:prstGeom>
          <a:solidFill>
            <a:srgbClr val="FFFDF7">
              <a:alpha val="100000"/>
            </a:srgbClr>
          </a:solidFill>
          <a:ln w="20320">
            <a:solidFill>
              <a:srgbClr val="D81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779519" y="5065776"/>
            <a:ext cx="566928" cy="566928"/>
          </a:xfrm>
          <a:prstGeom prst="ellipse">
            <a:avLst/>
          </a:prstGeom>
          <a:solidFill>
            <a:srgbClr val="D81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ev_youth_1224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244" y="5190500"/>
            <a:ext cx="317479" cy="317479"/>
          </a:xfrm>
          <a:prstGeom prst="rect">
            <a:avLst/>
          </a:prstGeom>
        </p:spPr>
      </p:pic>
      <p:sp>
        <p:nvSpPr>
          <p:cNvPr id="26" name="ot"/>
          <p:cNvSpPr txBox="1"/>
          <p:nvPr/>
        </p:nvSpPr>
        <p:spPr>
          <a:xfrm>
            <a:off x="4474463" y="4882896"/>
            <a:ext cx="3974591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14000"/>
              </a:lnSpc>
            </a:pPr>
            <a:r>
              <a:rPr sz="1500" b="0" i="0">
                <a:solidFill>
                  <a:srgbClr val="0A3B2C"/>
                </a:solidFill>
                <a:latin typeface="Poppins"/>
              </a:rPr>
              <a:t>Build confidence, teamwork and cultural roots</a:t>
            </a:r>
          </a:p>
        </p:txBody>
      </p:sp>
      <p:sp>
        <p:nvSpPr>
          <p:cNvPr id="27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28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04 · What You Gain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24" dur="1200" decel="7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45" dur="1300" decel="7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42" presetClass="entr" presetSubtype="4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57" dur="1300" decel="7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42" presetClass="entr" presetSubtype="4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69" dur="1300" decel="7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42" presetClass="entr" presetSubtype="4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81" dur="1300" decel="7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42" presetClass="entr" presetSubtype="4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93" dur="1300" decel="7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4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05" dur="1300" decel="7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42" presetClass="entr" presetSubtype="4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17" dur="1300" decel="7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42" presetClass="entr" presetSubtype="4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29" dur="1300" decel="7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4" presetID="42" presetClass="entr" presetSubtype="4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41" dur="1300" decel="7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42" presetClass="entr" presetSubtype="4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253" dur="1300" decel="7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32104" y="795528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yebrow"/>
          <p:cNvSpPr txBox="1"/>
          <p:nvPr/>
        </p:nvSpPr>
        <p:spPr>
          <a:xfrm>
            <a:off x="1078992" y="7315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Your Mentors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841248" y="1115568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200" b="0" i="0">
                <a:solidFill>
                  <a:srgbClr val="FFFDF7"/>
                </a:solidFill>
                <a:latin typeface="Playfair Display"/>
              </a:rPr>
              <a:t>Who will guide you?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841248" y="22860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40000"/>
              </a:lnSpc>
            </a:pPr>
            <a:r>
              <a:rPr sz="1700" b="0" i="0">
                <a:solidFill>
                  <a:srgbClr val="F2CE7B"/>
                </a:solidFill>
                <a:latin typeface="Poppins"/>
              </a:rPr>
              <a:t>Our teams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3400" b="0" i="0">
                <a:solidFill>
                  <a:srgbClr val="F5A81C"/>
                </a:solidFill>
                <a:latin typeface="Playfair Display"/>
              </a:rPr>
              <a:t>DevBhoomi &amp; Uttarayani</a:t>
            </a: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sz="1600" b="0" i="0">
                <a:solidFill>
                  <a:srgbClr val="FFFDF7"/>
                </a:solidFill>
                <a:latin typeface="Poppins"/>
              </a:rPr>
              <a:t>will guide participants and teach them about Uttarakhand’s traditional culture, folk performances, and authentic artistic presentation.</a:t>
            </a:r>
          </a:p>
        </p:txBody>
      </p:sp>
      <p:sp>
        <p:nvSpPr>
          <p:cNvPr id="8" name="photo"/>
          <p:cNvSpPr/>
          <p:nvPr/>
        </p:nvSpPr>
        <p:spPr>
          <a:xfrm>
            <a:off x="6309360" y="1371600"/>
            <a:ext cx="2377440" cy="265176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E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v_dancer_E23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162556"/>
            <a:ext cx="71323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29827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E23A2E"/>
                </a:solidFill>
                <a:latin typeface="Montserrat"/>
              </a:rPr>
              <a:t>TEAM DEVBHOOMI</a:t>
            </a:r>
          </a:p>
        </p:txBody>
      </p:sp>
      <p:sp>
        <p:nvSpPr>
          <p:cNvPr id="11" name="photo"/>
          <p:cNvSpPr/>
          <p:nvPr/>
        </p:nvSpPr>
        <p:spPr>
          <a:xfrm>
            <a:off x="8915400" y="1371600"/>
            <a:ext cx="2423160" cy="265176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17A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v_hands_17A6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505" y="2152269"/>
            <a:ext cx="726947" cy="7269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2988259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17A6A0"/>
                </a:solidFill>
                <a:latin typeface="Montserrat"/>
              </a:rPr>
              <a:t>TEAM UTTARAYANI</a:t>
            </a:r>
          </a:p>
        </p:txBody>
      </p:sp>
      <p:sp>
        <p:nvSpPr>
          <p:cNvPr id="14" name="photo"/>
          <p:cNvSpPr/>
          <p:nvPr/>
        </p:nvSpPr>
        <p:spPr>
          <a:xfrm>
            <a:off x="6309360" y="4206240"/>
            <a:ext cx="5029200" cy="1920240"/>
          </a:xfrm>
          <a:prstGeom prst="roundRect">
            <a:avLst>
              <a:gd name="adj" fmla="val 4500"/>
            </a:avLst>
          </a:prstGeom>
          <a:solidFill>
            <a:srgbClr val="1C7A54">
              <a:alpha val="30000"/>
            </a:srgbClr>
          </a:solidFill>
          <a:ln w="30480">
            <a:solidFill>
              <a:srgbClr val="F5A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ev_flag_F5A8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924" y="4734305"/>
            <a:ext cx="576072" cy="5760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53967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 spc="240" cap="all">
                <a:solidFill>
                  <a:srgbClr val="F5A81C"/>
                </a:solidFill>
                <a:latin typeface="Montserrat"/>
              </a:rPr>
              <a:t>PERFORMANCE PHOTO</a:t>
            </a:r>
          </a:p>
        </p:txBody>
      </p:sp>
      <p:sp>
        <p:nvSpPr>
          <p:cNvPr id="17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18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05 · Your Guides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30" dur="130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4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42" dur="1300" decel="7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1500" decel="65000" fill="hold"/>
                                        <p:tgtEl>
                                          <p:spTgt spid="8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9" presetID="23" presetClass="entr" presetSubtype="16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1500" decel="65000" fill="hold"/>
                                        <p:tgtEl>
                                          <p:spTgt spid="11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3" presetClass="entr" presetSubtype="16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1500" decel="650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pic>
        <p:nvPicPr>
          <p:cNvPr id="4" name="Picture 3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6172200"/>
            <a:ext cx="12374879" cy="822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32104" y="978407"/>
            <a:ext cx="109728" cy="109728"/>
          </a:xfrm>
          <a:prstGeom prst="ellipse">
            <a:avLst/>
          </a:prstGeom>
          <a:solidFill>
            <a:srgbClr val="F5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eyebrow"/>
          <p:cNvSpPr txBox="1"/>
          <p:nvPr/>
        </p:nvSpPr>
        <p:spPr>
          <a:xfrm>
            <a:off x="1078992" y="9144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250" b="0" i="0" spc="300" cap="all">
                <a:solidFill>
                  <a:srgbClr val="F2CE7B"/>
                </a:solidFill>
                <a:latin typeface="Montserrat"/>
              </a:rPr>
              <a:t>Your Moment On Stage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41248" y="1371600"/>
            <a:ext cx="10509503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4800" b="0" i="0">
                <a:solidFill>
                  <a:srgbClr val="FFFDF7"/>
                </a:solidFill>
                <a:latin typeface="Playfair Display"/>
                <a:effectLst>
                  <a:outerShdw blurRad="228600" dist="38100" dir="5400000" rotWithShape="0">
                    <a:srgbClr val="000000">
                      <a:alpha val="45000"/>
                    </a:srgbClr>
                  </a:outerShdw>
                </a:effectLst>
              </a:rPr>
              <a:t>Showcase your talent — and win!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841248" y="2743200"/>
            <a:ext cx="105095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5000"/>
              </a:lnSpc>
            </a:pPr>
            <a:r>
              <a:rPr sz="1800" b="0" i="0">
                <a:solidFill>
                  <a:srgbClr val="F2CE7B"/>
                </a:solidFill>
                <a:latin typeface="Poppins"/>
              </a:rPr>
              <a:t>Present the true beauty of Uttarakhand’s culture through your own creativity and performance.</a:t>
            </a:r>
          </a:p>
        </p:txBody>
      </p:sp>
      <p:sp>
        <p:nvSpPr>
          <p:cNvPr id="9" name="pill"/>
          <p:cNvSpPr/>
          <p:nvPr/>
        </p:nvSpPr>
        <p:spPr>
          <a:xfrm>
            <a:off x="3718559" y="3794760"/>
            <a:ext cx="4754880" cy="1920240"/>
          </a:xfrm>
          <a:prstGeom prst="roundRect">
            <a:avLst>
              <a:gd name="adj" fmla="val 10000"/>
            </a:avLst>
          </a:prstGeom>
          <a:solidFill>
            <a:srgbClr val="F5A8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label"/>
          <p:cNvSpPr txBox="1"/>
          <p:nvPr/>
        </p:nvSpPr>
        <p:spPr>
          <a:xfrm>
            <a:off x="3718559" y="40416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 spc="280" cap="all">
                <a:solidFill>
                  <a:srgbClr val="0A3B2C"/>
                </a:solidFill>
                <a:latin typeface="Montserrat"/>
              </a:rPr>
              <a:t>CASH PRIZE</a:t>
            </a:r>
          </a:p>
        </p:txBody>
      </p:sp>
      <p:sp>
        <p:nvSpPr>
          <p:cNvPr id="11" name="prize"/>
          <p:cNvSpPr txBox="1"/>
          <p:nvPr/>
        </p:nvSpPr>
        <p:spPr>
          <a:xfrm>
            <a:off x="3718559" y="44805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200" b="1" i="0">
                <a:solidFill>
                  <a:srgbClr val="E23A2E"/>
                </a:solidFill>
                <a:latin typeface="Cinzel"/>
              </a:rPr>
              <a:t>₹ 11,000</a:t>
            </a:r>
          </a:p>
        </p:txBody>
      </p:sp>
      <p:sp>
        <p:nvSpPr>
          <p:cNvPr id="12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13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06 · Compete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 p14:dur="1500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4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30" dur="1400" decel="7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1100" decel="65000" fill="hold"/>
                                        <p:tgtEl>
                                          <p:spTgt spid="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4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3500 L 0 0 " pathEditMode="relative" ptsTypes="AA">
                                      <p:cBhvr additive="base">
                                        <p:cTn id="172" dur="1200" decel="7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pic>
        <p:nvPicPr>
          <p:cNvPr id="4" name="Picture 3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-137160"/>
            <a:ext cx="12374879" cy="822960"/>
          </a:xfrm>
          <a:prstGeom prst="rect">
            <a:avLst/>
          </a:prstGeom>
        </p:spPr>
      </p:pic>
      <p:pic>
        <p:nvPicPr>
          <p:cNvPr id="5" name="Picture 4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6172200"/>
            <a:ext cx="12374879" cy="822960"/>
          </a:xfrm>
          <a:prstGeom prst="rect">
            <a:avLst/>
          </a:prstGeom>
        </p:spPr>
      </p:pic>
      <p:sp>
        <p:nvSpPr>
          <p:cNvPr id="6" name="line"/>
          <p:cNvSpPr txBox="1"/>
          <p:nvPr/>
        </p:nvSpPr>
        <p:spPr>
          <a:xfrm>
            <a:off x="548640" y="2331720"/>
            <a:ext cx="11094719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4200" b="0" i="0">
                <a:solidFill>
                  <a:srgbClr val="0A3B2C"/>
                </a:solidFill>
                <a:latin typeface="Playfair Display"/>
              </a:rPr>
              <a:t>Celebrate our traditions,</a:t>
            </a:r>
          </a:p>
          <a:p>
            <a:pPr algn="ctr">
              <a:lnSpc>
                <a:spcPct val="120000"/>
              </a:lnSpc>
            </a:pPr>
            <a:r>
              <a:rPr sz="4200" b="0" i="0">
                <a:solidFill>
                  <a:srgbClr val="0A3B2C"/>
                </a:solidFill>
                <a:latin typeface="Playfair Display"/>
              </a:rPr>
              <a:t>showcase your talent, and keep the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4200" b="0" i="0">
                <a:solidFill>
                  <a:srgbClr val="E23A2E"/>
                </a:solidFill>
                <a:latin typeface="Playfair Display"/>
              </a:rPr>
              <a:t>culture of Uttarakhand alive.</a:t>
            </a:r>
          </a:p>
        </p:txBody>
      </p:sp>
      <p:sp>
        <p:nvSpPr>
          <p:cNvPr id="7" name="fL"/>
          <p:cNvSpPr txBox="1"/>
          <p:nvPr/>
        </p:nvSpPr>
        <p:spPr>
          <a:xfrm>
            <a:off x="841248" y="6455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950" b="0" i="0" spc="260" cap="all">
                <a:solidFill>
                  <a:srgbClr val="F2CE7B"/>
                </a:solidFill>
                <a:latin typeface="Montserrat"/>
              </a:rPr>
              <a:t>GARH  KAUTHIG</a:t>
            </a:r>
          </a:p>
        </p:txBody>
      </p:sp>
      <p:sp>
        <p:nvSpPr>
          <p:cNvPr id="8" name="fR"/>
          <p:cNvSpPr txBox="1"/>
          <p:nvPr/>
        </p:nvSpPr>
        <p:spPr>
          <a:xfrm>
            <a:off x="6778751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50" b="0" i="0" spc="200" cap="all">
                <a:solidFill>
                  <a:srgbClr val="D9A43A"/>
                </a:solidFill>
                <a:latin typeface="Montserrat"/>
              </a:rPr>
              <a:t>The Invitation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slow" p14:dur="2200">
    <p:fade/>
  </p:transition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3000 L 0 0 " pathEditMode="relative" ptsTypes="AA">
                                      <p:cBhvr additive="base">
                                        <p:cTn id="121" dur="180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B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_gold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981199" y="-1097280"/>
            <a:ext cx="8229600" cy="8229600"/>
          </a:xfrm>
          <a:prstGeom prst="rect">
            <a:avLst/>
          </a:prstGeom>
        </p:spPr>
      </p:pic>
      <p:pic>
        <p:nvPicPr>
          <p:cNvPr id="3" name="Picture 2" descr="fx_petals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234440" y="-731520"/>
            <a:ext cx="14676120" cy="8321040"/>
          </a:xfrm>
          <a:prstGeom prst="rect">
            <a:avLst/>
          </a:prstGeom>
        </p:spPr>
      </p:pic>
      <p:pic>
        <p:nvPicPr>
          <p:cNvPr id="4" name="Picture 3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-137160"/>
            <a:ext cx="12374879" cy="822960"/>
          </a:xfrm>
          <a:prstGeom prst="rect">
            <a:avLst/>
          </a:prstGeom>
        </p:spPr>
      </p:pic>
      <p:pic>
        <p:nvPicPr>
          <p:cNvPr id="5" name="Picture 4" descr="orn_aipa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6172200"/>
            <a:ext cx="12374879" cy="822960"/>
          </a:xfrm>
          <a:prstGeom prst="rect">
            <a:avLst/>
          </a:prstGeom>
        </p:spPr>
      </p:pic>
      <p:sp>
        <p:nvSpPr>
          <p:cNvPr id="6" name="ty"/>
          <p:cNvSpPr txBox="1"/>
          <p:nvPr/>
        </p:nvSpPr>
        <p:spPr>
          <a:xfrm>
            <a:off x="841248" y="2194560"/>
            <a:ext cx="10509503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800" b="1" i="0">
                <a:solidFill>
                  <a:srgbClr val="F5A81C"/>
                </a:solidFill>
                <a:latin typeface="Cinzel"/>
                <a:effectLst>
                  <a:outerShdw blurRad="304800" dist="50800" dir="5400000" rotWithShape="0">
                    <a:srgbClr val="000000">
                      <a:alpha val="55000"/>
                    </a:srgbClr>
                  </a:outerShdw>
                </a:effectLst>
              </a:rPr>
              <a:t>THANK YOU!</a:t>
            </a:r>
          </a:p>
        </p:txBody>
      </p:sp>
      <p:sp>
        <p:nvSpPr>
          <p:cNvPr id="7" name="sub"/>
          <p:cNvSpPr txBox="1"/>
          <p:nvPr/>
        </p:nvSpPr>
        <p:spPr>
          <a:xfrm>
            <a:off x="841248" y="4114800"/>
            <a:ext cx="10509503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0" i="0" spc="200" cap="all">
                <a:solidFill>
                  <a:srgbClr val="F2CE7B"/>
                </a:solidFill>
                <a:latin typeface="Montserrat"/>
              </a:rPr>
              <a:t>Presented by the Swaragini Cultural Club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slow" p14:dur="2200">
    <p:fade/>
  </p:transition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mp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3000" autoRev="1" repeatCount="indefinite" accel="45000" decel="4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0" nodeType="withEffect" accel="45000" decel="4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00 0.01200 " pathEditMode="relative" ptsTypes="AA">
                                      <p:cBhvr additive="base">
                                        <p:cTn id="109" dur="23000" autoRev="1" repeatCount="indefinite" accel="45000" decel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4000 L 0 0 " pathEditMode="relative" ptsTypes="AA">
                                      <p:cBhvr additive="base">
                                        <p:cTn id="121" dur="150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