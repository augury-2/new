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4a" ContentType="audio/mp4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Open with energy. Let the dhol-damau track play. This is a surprise curtain-raiser — build excitement from slide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Kauthig = a fair / celebration that gathers the whole community. Keep it simple and warm.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Five occasions. Emphasise it is woven into farming, faith and now student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Dance, music, competitions, food, crafts, costume. Name the folk forms — students may get to learn some.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Five signature dances. Jhora = togetherness; Chholiya = martial sword dance; Pandav Nritya = epic re-enactment; Langvir = acrobatic. Students can try Jhora and Chholiya.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Dhol-damau are the soul of the hills. Point out that the background track you can hear is a dhol-damau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Pichhora is the signature yellow bridal veil. Jewellery like nath and hansuli are heirlooms passed down generations.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Millets (mandua, jhangora), potatoes, lentils and local greens. Bal Mithai and Singori are the famous sweets.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Aipan is the ritual folk art of Kumaon. Ringaal, tamta copper, woodcarving and wool are living crafts, several now GI-tagged.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Sell it to students: culture, skills, stage time, confidence, friendships.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Introduce mentor teams DevBhoomi and Uttarayani — the seniors who will train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The hook: participate and win. Announce the ₹11,000 cash prize with energy — this is the call to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Land the line, then invite them in. Pause before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ontserrat"/>
              </a:rPr>
              <a:t>Close with warmth. Invite questions and sign-ups.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microsoft.com/office/2007/relationships/media" Target="../media/media1.m4a"/><Relationship Id="rId13" Type="http://schemas.openxmlformats.org/officeDocument/2006/relationships/audio" Target="../media/media1.m4a"/><Relationship Id="rId14" Type="http://schemas.openxmlformats.org/officeDocument/2006/relationships/image" Target="../media/image11.png"/><Relationship Id="rId1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7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3.png"/><Relationship Id="rId7" Type="http://schemas.openxmlformats.org/officeDocument/2006/relationships/image" Target="../media/image20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23.png"/><Relationship Id="rId1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25.png"/><Relationship Id="rId9" Type="http://schemas.openxmlformats.org/officeDocument/2006/relationships/image" Target="../media/image38.png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24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47.png"/><Relationship Id="rId10" Type="http://schemas.openxmlformats.org/officeDocument/2006/relationships/image" Target="../media/image37.png"/><Relationship Id="rId1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12.png"/><Relationship Id="rId4" Type="http://schemas.openxmlformats.org/officeDocument/2006/relationships/image" Target="../media/image49.png"/><Relationship Id="rId5" Type="http://schemas.openxmlformats.org/officeDocument/2006/relationships/image" Target="../media/image28.png"/><Relationship Id="rId6" Type="http://schemas.openxmlformats.org/officeDocument/2006/relationships/image" Target="../media/image30.png"/><Relationship Id="rId7" Type="http://schemas.openxmlformats.org/officeDocument/2006/relationships/image" Target="../media/image50.png"/><Relationship Id="rId8" Type="http://schemas.openxmlformats.org/officeDocument/2006/relationships/image" Target="../media/image22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lob"/>
          <p:cNvSpPr/>
          <p:nvPr/>
        </p:nvSpPr>
        <p:spPr>
          <a:xfrm>
            <a:off x="-1371600" y="-1463040"/>
            <a:ext cx="4114800" cy="4114800"/>
          </a:xfrm>
          <a:prstGeom prst="ellipse">
            <a:avLst/>
          </a:prstGeom>
          <a:solidFill>
            <a:srgbClr val="F5A81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lob"/>
          <p:cNvSpPr/>
          <p:nvPr/>
        </p:nvSpPr>
        <p:spPr>
          <a:xfrm>
            <a:off x="9265919" y="-1828800"/>
            <a:ext cx="4754880" cy="4754880"/>
          </a:xfrm>
          <a:prstGeom prst="ellipse">
            <a:avLst/>
          </a:prstGeom>
          <a:solidFill>
            <a:srgbClr val="D81E6A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blob"/>
          <p:cNvSpPr/>
          <p:nvPr/>
        </p:nvSpPr>
        <p:spPr>
          <a:xfrm>
            <a:off x="10180319" y="4480560"/>
            <a:ext cx="3657600" cy="3657600"/>
          </a:xfrm>
          <a:prstGeom prst="ellipse">
            <a:avLst/>
          </a:prstGeom>
          <a:solidFill>
            <a:srgbClr val="17A6A0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blob"/>
          <p:cNvSpPr/>
          <p:nvPr/>
        </p:nvSpPr>
        <p:spPr>
          <a:xfrm>
            <a:off x="-1645920" y="4114800"/>
            <a:ext cx="4023360" cy="4023360"/>
          </a:xfrm>
          <a:prstGeom prst="ellipse">
            <a:avLst/>
          </a:prstGeom>
          <a:solidFill>
            <a:srgbClr val="EE7B1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7" name="Picture 6" descr="fx_rays_top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8" name="Picture 7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9" name="Picture 8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10" name="confetti"/>
          <p:cNvSpPr/>
          <p:nvPr/>
        </p:nvSpPr>
        <p:spPr>
          <a:xfrm>
            <a:off x="731519" y="1097280"/>
            <a:ext cx="99563" cy="99563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nfetti"/>
          <p:cNvSpPr/>
          <p:nvPr/>
        </p:nvSpPr>
        <p:spPr>
          <a:xfrm>
            <a:off x="1950719" y="5486400"/>
            <a:ext cx="88887" cy="88887"/>
          </a:xfrm>
          <a:prstGeom prst="ellipse">
            <a:avLst/>
          </a:prstGeom>
          <a:solidFill>
            <a:srgbClr val="E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nfetti"/>
          <p:cNvSpPr/>
          <p:nvPr/>
        </p:nvSpPr>
        <p:spPr>
          <a:xfrm>
            <a:off x="10972799" y="1371600"/>
            <a:ext cx="140850" cy="140850"/>
          </a:xfrm>
          <a:prstGeom prst="ellipse">
            <a:avLst/>
          </a:prstGeom>
          <a:solidFill>
            <a:srgbClr val="17A6A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onfetti"/>
          <p:cNvSpPr/>
          <p:nvPr/>
        </p:nvSpPr>
        <p:spPr>
          <a:xfrm>
            <a:off x="10363199" y="4800600"/>
            <a:ext cx="108648" cy="108648"/>
          </a:xfrm>
          <a:prstGeom prst="ellipse">
            <a:avLst/>
          </a:prstGeom>
          <a:solidFill>
            <a:srgbClr val="EE7B1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onfetti"/>
          <p:cNvSpPr/>
          <p:nvPr/>
        </p:nvSpPr>
        <p:spPr>
          <a:xfrm>
            <a:off x="6095999" y="548640"/>
            <a:ext cx="97979" cy="97979"/>
          </a:xfrm>
          <a:prstGeom prst="ellipse">
            <a:avLst/>
          </a:prstGeom>
          <a:solidFill>
            <a:srgbClr val="D81E6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onfetti"/>
          <p:cNvSpPr/>
          <p:nvPr/>
        </p:nvSpPr>
        <p:spPr>
          <a:xfrm>
            <a:off x="3413759" y="6172200"/>
            <a:ext cx="101334" cy="101334"/>
          </a:xfrm>
          <a:prstGeom prst="ellipse">
            <a:avLst/>
          </a:prstGeom>
          <a:solidFill>
            <a:srgbClr val="1E63B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fetti"/>
          <p:cNvSpPr/>
          <p:nvPr/>
        </p:nvSpPr>
        <p:spPr>
          <a:xfrm>
            <a:off x="8778239" y="6172200"/>
            <a:ext cx="128160" cy="128160"/>
          </a:xfrm>
          <a:prstGeom prst="ellipse">
            <a:avLst/>
          </a:prstGeom>
          <a:solidFill>
            <a:srgbClr val="7A3FB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onfetti"/>
          <p:cNvSpPr/>
          <p:nvPr/>
        </p:nvSpPr>
        <p:spPr>
          <a:xfrm>
            <a:off x="11582399" y="3086100"/>
            <a:ext cx="88639" cy="88639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orn_aipan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1440" y="-137160"/>
            <a:ext cx="12374879" cy="804672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18388" y="964692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eyebrow"/>
          <p:cNvSpPr txBox="1"/>
          <p:nvPr/>
        </p:nvSpPr>
        <p:spPr>
          <a:xfrm>
            <a:off x="1078992" y="896112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Swaragini Cultural Club  ·  Presents</a:t>
            </a:r>
          </a:p>
        </p:txBody>
      </p:sp>
      <p:sp>
        <p:nvSpPr>
          <p:cNvPr id="21" name="hindi"/>
          <p:cNvSpPr txBox="1"/>
          <p:nvPr/>
        </p:nvSpPr>
        <p:spPr>
          <a:xfrm>
            <a:off x="822960" y="1298448"/>
            <a:ext cx="10546079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000" b="1" i="0">
                <a:solidFill>
                  <a:srgbClr val="F5A81C"/>
                </a:solidFill>
                <a:latin typeface="Cinzel"/>
                <a:cs typeface="Nirmala UI"/>
                <a:ea typeface="Nirmala UI"/>
                <a:effectLst>
                  <a:outerShdw blurRad="355600" dist="76200" dir="5400000" rotWithShape="0">
                    <a:srgbClr val="000000">
                      <a:alpha val="60000"/>
                    </a:srgbClr>
                  </a:outerShdw>
                </a:effectLst>
              </a:rPr>
              <a:t>गढ़ कौथिग</a:t>
            </a:r>
          </a:p>
        </p:txBody>
      </p:sp>
      <p:sp>
        <p:nvSpPr>
          <p:cNvPr id="22" name="sub"/>
          <p:cNvSpPr txBox="1"/>
          <p:nvPr/>
        </p:nvSpPr>
        <p:spPr>
          <a:xfrm>
            <a:off x="822960" y="3529584"/>
            <a:ext cx="1054607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4000" b="0" i="0">
                <a:solidFill>
                  <a:srgbClr val="FFFDF7"/>
                </a:solidFill>
                <a:latin typeface="Playfair Display"/>
                <a:effectLst>
                  <a:outerShdw blurRad="228600" dist="38100" dir="5400000" rotWithShape="0">
                    <a:srgbClr val="000000">
                      <a:alpha val="50000"/>
                    </a:srgbClr>
                  </a:outerShdw>
                </a:effectLst>
              </a:rPr>
              <a:t>A Celebration of Uttarakhand’s Culture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526280"/>
            <a:ext cx="2926080" cy="33020"/>
          </a:xfrm>
          <a:prstGeom prst="rect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g"/>
          <p:cNvSpPr txBox="1"/>
          <p:nvPr/>
        </p:nvSpPr>
        <p:spPr>
          <a:xfrm>
            <a:off x="822960" y="4681728"/>
            <a:ext cx="10546079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0" i="0" spc="240" cap="all">
                <a:solidFill>
                  <a:srgbClr val="F2CE7B"/>
                </a:solidFill>
                <a:latin typeface="Montserrat"/>
              </a:rPr>
              <a:t>Dance  ·  Music  ·  Food  ·  Craft  ·  Community</a:t>
            </a:r>
          </a:p>
        </p:txBody>
      </p:sp>
      <p:sp>
        <p:nvSpPr>
          <p:cNvPr id="25" name="photo"/>
          <p:cNvSpPr/>
          <p:nvPr/>
        </p:nvSpPr>
        <p:spPr>
          <a:xfrm>
            <a:off x="822960" y="5413248"/>
            <a:ext cx="1977542" cy="969264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ev_dancer_F5A8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6341" y="5665256"/>
            <a:ext cx="290779" cy="29077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033576"/>
            <a:ext cx="197754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F5A81C"/>
                </a:solidFill>
                <a:latin typeface="Montserrat"/>
              </a:rPr>
              <a:t>PHOTO</a:t>
            </a:r>
          </a:p>
        </p:txBody>
      </p:sp>
      <p:sp>
        <p:nvSpPr>
          <p:cNvPr id="28" name="photo"/>
          <p:cNvSpPr/>
          <p:nvPr/>
        </p:nvSpPr>
        <p:spPr>
          <a:xfrm>
            <a:off x="2965094" y="5413248"/>
            <a:ext cx="1977542" cy="969264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ev_temple_E23A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8475" y="5665256"/>
            <a:ext cx="290779" cy="29077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965094" y="6033576"/>
            <a:ext cx="197754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E23A2E"/>
                </a:solidFill>
                <a:latin typeface="Montserrat"/>
              </a:rPr>
              <a:t>PHOTO</a:t>
            </a:r>
          </a:p>
        </p:txBody>
      </p:sp>
      <p:sp>
        <p:nvSpPr>
          <p:cNvPr id="31" name="photo"/>
          <p:cNvSpPr/>
          <p:nvPr/>
        </p:nvSpPr>
        <p:spPr>
          <a:xfrm>
            <a:off x="5107228" y="5413248"/>
            <a:ext cx="1977542" cy="969264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ev_dhol_17A6A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0610" y="5665256"/>
            <a:ext cx="290779" cy="29077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07228" y="6033576"/>
            <a:ext cx="197754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17A6A0"/>
                </a:solidFill>
                <a:latin typeface="Montserrat"/>
              </a:rPr>
              <a:t>PHOTO</a:t>
            </a:r>
          </a:p>
        </p:txBody>
      </p:sp>
      <p:sp>
        <p:nvSpPr>
          <p:cNvPr id="34" name="photo"/>
          <p:cNvSpPr/>
          <p:nvPr/>
        </p:nvSpPr>
        <p:spPr>
          <a:xfrm>
            <a:off x="7249363" y="5413248"/>
            <a:ext cx="1977542" cy="969264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EE7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ev_mountain_EE7B1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744" y="5665256"/>
            <a:ext cx="290779" cy="29077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249363" y="6033576"/>
            <a:ext cx="197754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EE7B1E"/>
                </a:solidFill>
                <a:latin typeface="Montserrat"/>
              </a:rPr>
              <a:t>PHOTO</a:t>
            </a:r>
          </a:p>
        </p:txBody>
      </p:sp>
      <p:sp>
        <p:nvSpPr>
          <p:cNvPr id="37" name="photo"/>
          <p:cNvSpPr/>
          <p:nvPr/>
        </p:nvSpPr>
        <p:spPr>
          <a:xfrm>
            <a:off x="9391497" y="5413248"/>
            <a:ext cx="1977542" cy="969264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D81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ev_hands_D81E6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34879" y="5665256"/>
            <a:ext cx="290779" cy="29077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391497" y="6033576"/>
            <a:ext cx="197754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D81E6A"/>
                </a:solidFill>
                <a:latin typeface="Montserrat"/>
              </a:rPr>
              <a:t>PHOTO</a:t>
            </a:r>
          </a:p>
        </p:txBody>
      </p:sp>
      <p:pic>
        <p:nvPicPr>
          <p:cNvPr id="40" name="Ambient Score">
            <a:hlinkClick r:id="" action="ppaction://media"/>
          </p:cNvPr>
          <p:cNvPicPr>
            <a:picLocks noChangeAspect="1"/>
          </p:cNvPicPr>
          <p:nvPr>
            <a:audi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11689080" y="237744"/>
            <a:ext cx="365760" cy="365760"/>
          </a:xfrm>
          <a:prstGeom prst="rect">
            <a:avLst/>
          </a:prstGeom>
        </p:spPr>
      </p:pic>
      <p:sp>
        <p:nvSpPr>
          <p:cNvPr id="41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42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Curtain Raiser</a:t>
            </a:r>
          </a:p>
        </p:txBody>
      </p:sp>
    </p:spTree>
  </p:cSld>
  <p:clrMapOvr>
    <a:masterClrMapping/>
  </p:clrMapOvr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6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000 0.00000 " pathEditMode="relative" ptsTypes="AA">
                                      <p:cBhvr additive="base">
                                        <p:cTn id="109" dur="19000" autoRev="1" repeatCount="indefinite" accel="45000" decel="4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15" dur="15000" autoRev="1" repeatCount="indefinite" accel="45000" decel="45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1" dur="12000" autoRev="1" repeatCount="indefinite" accel="45000" decel="45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7" dur="17000" autoRev="1" repeatCount="indefinite" accel="45000" decel="45000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381 -0.00832 " pathEditMode="relative" ptsTypes="AA">
                                      <p:cBhvr additive="base">
                                        <p:cTn id="133" dur="10269" autoRev="1" repeatCount="indefinite" accel="45000" decel="45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881 0.00395 " pathEditMode="relative" ptsTypes="AA">
                                      <p:cBhvr additive="base">
                                        <p:cTn id="139" dur="11370" autoRev="1" repeatCount="indefinite" accel="45000" decel="4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591 -0.02225 " pathEditMode="relative" ptsTypes="AA">
                                      <p:cBhvr additive="base">
                                        <p:cTn id="145" dur="13396" autoRev="1" repeatCount="indefinite" accel="45000" decel="45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678 0.02615 " pathEditMode="relative" ptsTypes="AA">
                                      <p:cBhvr additive="base">
                                        <p:cTn id="151" dur="11144" autoRev="1" repeatCount="indefinite" accel="45000" decel="45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565 0.02631 " pathEditMode="relative" ptsTypes="AA">
                                      <p:cBhvr additive="base">
                                        <p:cTn id="157" dur="15608" autoRev="1" repeatCount="indefinite" accel="45000" decel="45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370 -0.02681 " pathEditMode="relative" ptsTypes="AA">
                                      <p:cBhvr additive="base">
                                        <p:cTn id="163" dur="11372" autoRev="1" repeatCount="indefinite" accel="45000" decel="45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391 0.02837 " pathEditMode="relative" ptsTypes="AA">
                                      <p:cBhvr additive="base">
                                        <p:cTn id="169" dur="12050" autoRev="1" repeatCount="indefinite" accel="45000" decel="4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35 0.01374 " pathEditMode="relative" ptsTypes="AA">
                                      <p:cBhvr additive="base">
                                        <p:cTn id="175" dur="13144" autoRev="1" repeatCount="indefinite" accel="45000" decel="45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1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4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Motion origin="layout" path="M 0 0.05000 L 0 0 " pathEditMode="relative" ptsTypes="AA">
                                      <p:cBhvr additive="base">
                                        <p:cTn id="196" dur="1500" decel="7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1" presetID="4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1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8" dur="1400" decel="7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22" presetClass="entr" presetSubtype="1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7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1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42" presetClass="entr" presetSubtype="4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1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38" dur="1300" decel="7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3" presetID="42" presetClass="entr" presetSubtype="4" fill="hold" grpId="0" nodeType="withEffect">
                                  <p:stCondLst>
                                    <p:cond delay="257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1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50" dur="1300" decel="7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42" presetClass="entr" presetSubtype="4" fill="hold" grpId="0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1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62" dur="1300" decel="7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7" presetID="42" presetClass="entr" presetSubtype="4" fill="hold" grpId="0" nodeType="withEffect">
                                  <p:stCondLst>
                                    <p:cond delay="291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1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74" dur="1300" decel="7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9" presetID="42" presetClass="entr" presetSubtype="4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1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86" dur="1300" decel="7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60000">
                <p:cTn id="292" fill="hold" repeatCount="indefinite" display="0">
                  <p:stCondLst>
                    <p:cond delay="0"/>
                  </p:stCondLst>
                </p:cTn>
                <p:tgtEl>
                  <p:spTgt spid="40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8" y="818388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eyebrow"/>
          <p:cNvSpPr txBox="1"/>
          <p:nvPr/>
        </p:nvSpPr>
        <p:spPr>
          <a:xfrm>
            <a:off x="1078992" y="749808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What It Means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822960" y="1133856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5200" b="0" i="0">
                <a:solidFill>
                  <a:srgbClr val="F5A81C"/>
                </a:solidFill>
                <a:latin typeface="Playfair Display"/>
              </a:rPr>
              <a:t>Garh Kauthig</a:t>
            </a:r>
          </a:p>
          <a:p>
            <a:r>
              <a:rPr sz="4000" b="0" i="0">
                <a:solidFill>
                  <a:srgbClr val="FFFDF7"/>
                </a:solidFill>
                <a:latin typeface="Playfair Display"/>
              </a:rPr>
              <a:t>means celebration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26080"/>
            <a:ext cx="2194560" cy="27940"/>
          </a:xfrm>
          <a:prstGeom prst="rect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"/>
          <p:cNvSpPr txBox="1"/>
          <p:nvPr/>
        </p:nvSpPr>
        <p:spPr>
          <a:xfrm>
            <a:off x="822960" y="3154680"/>
            <a:ext cx="5577840" cy="256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30000"/>
              </a:lnSpc>
            </a:pPr>
            <a:r>
              <a:rPr sz="2300" b="0" i="1">
                <a:solidFill>
                  <a:srgbClr val="FFFDF7"/>
                </a:solidFill>
                <a:latin typeface="Cormorant Garamond"/>
              </a:rPr>
              <a:t>“Garh Kauthik” is a traditional Uttarakhandi word for a fair, festival or community celebration.</a:t>
            </a:r>
          </a:p>
          <a:p>
            <a:pPr>
              <a:lnSpc>
                <a:spcPct val="140000"/>
              </a:lnSpc>
              <a:spcBef>
                <a:spcPts val="1400"/>
              </a:spcBef>
            </a:pPr>
            <a:r>
              <a:rPr sz="1600" b="0" i="0">
                <a:solidFill>
                  <a:srgbClr val="F2CE7B"/>
                </a:solidFill>
                <a:latin typeface="Poppins"/>
              </a:rPr>
              <a:t>It brings people together to celebrate the region’s culture, music, dance, food, clothing and traditions.</a:t>
            </a:r>
          </a:p>
        </p:txBody>
      </p:sp>
      <p:sp>
        <p:nvSpPr>
          <p:cNvPr id="11" name="photo"/>
          <p:cNvSpPr/>
          <p:nvPr/>
        </p:nvSpPr>
        <p:spPr>
          <a:xfrm>
            <a:off x="6812280" y="1234440"/>
            <a:ext cx="4526280" cy="4480560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ev_dhol_F5A8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336" y="2399385"/>
            <a:ext cx="1344168" cy="1344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12280" y="4101998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F5A81C"/>
                </a:solidFill>
                <a:latin typeface="Montserrat"/>
              </a:rPr>
              <a:t>FESTIVAL PHOTO</a:t>
            </a:r>
          </a:p>
        </p:txBody>
      </p:sp>
      <p:sp>
        <p:nvSpPr>
          <p:cNvPr id="14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15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The Meaning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54" dur="1300" decel="7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22" presetClass="entr" presetSubtype="1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1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75" dur="1300" decel="7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2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7" dur="1500" decel="65000" fill="hold"/>
                                        <p:tgtEl>
                                          <p:spTgt spid="11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0"/>
            <a:ext cx="12374879" cy="2103120"/>
          </a:xfrm>
          <a:prstGeom prst="rect">
            <a:avLst/>
          </a:prstGeom>
          <a:solidFill>
            <a:srgbClr val="0A3B2C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4" name="Picture 3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sp>
        <p:nvSpPr>
          <p:cNvPr id="5" name="confetti"/>
          <p:cNvSpPr/>
          <p:nvPr/>
        </p:nvSpPr>
        <p:spPr>
          <a:xfrm>
            <a:off x="731519" y="1097280"/>
            <a:ext cx="99563" cy="99563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onfetti"/>
          <p:cNvSpPr/>
          <p:nvPr/>
        </p:nvSpPr>
        <p:spPr>
          <a:xfrm>
            <a:off x="1950719" y="5486400"/>
            <a:ext cx="88887" cy="88887"/>
          </a:xfrm>
          <a:prstGeom prst="ellipse">
            <a:avLst/>
          </a:prstGeom>
          <a:solidFill>
            <a:srgbClr val="E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onfetti"/>
          <p:cNvSpPr/>
          <p:nvPr/>
        </p:nvSpPr>
        <p:spPr>
          <a:xfrm>
            <a:off x="10972799" y="1371600"/>
            <a:ext cx="140850" cy="140850"/>
          </a:xfrm>
          <a:prstGeom prst="ellipse">
            <a:avLst/>
          </a:prstGeom>
          <a:solidFill>
            <a:srgbClr val="17A6A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nfetti"/>
          <p:cNvSpPr/>
          <p:nvPr/>
        </p:nvSpPr>
        <p:spPr>
          <a:xfrm>
            <a:off x="10363199" y="4800600"/>
            <a:ext cx="108648" cy="108648"/>
          </a:xfrm>
          <a:prstGeom prst="ellipse">
            <a:avLst/>
          </a:prstGeom>
          <a:solidFill>
            <a:srgbClr val="EE7B1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nfetti"/>
          <p:cNvSpPr/>
          <p:nvPr/>
        </p:nvSpPr>
        <p:spPr>
          <a:xfrm>
            <a:off x="6095999" y="548640"/>
            <a:ext cx="97979" cy="97979"/>
          </a:xfrm>
          <a:prstGeom prst="ellipse">
            <a:avLst/>
          </a:prstGeom>
          <a:solidFill>
            <a:srgbClr val="D81E6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onfetti"/>
          <p:cNvSpPr/>
          <p:nvPr/>
        </p:nvSpPr>
        <p:spPr>
          <a:xfrm>
            <a:off x="3413759" y="6172200"/>
            <a:ext cx="101334" cy="101334"/>
          </a:xfrm>
          <a:prstGeom prst="ellipse">
            <a:avLst/>
          </a:prstGeom>
          <a:solidFill>
            <a:srgbClr val="1E63B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nfetti"/>
          <p:cNvSpPr/>
          <p:nvPr/>
        </p:nvSpPr>
        <p:spPr>
          <a:xfrm>
            <a:off x="8778239" y="6172200"/>
            <a:ext cx="128160" cy="128160"/>
          </a:xfrm>
          <a:prstGeom prst="ellipse">
            <a:avLst/>
          </a:prstGeom>
          <a:solidFill>
            <a:srgbClr val="7A3FB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nfetti"/>
          <p:cNvSpPr/>
          <p:nvPr/>
        </p:nvSpPr>
        <p:spPr>
          <a:xfrm>
            <a:off x="11582399" y="3086100"/>
            <a:ext cx="88639" cy="88639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18388" y="635508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eyebrow"/>
          <p:cNvSpPr txBox="1"/>
          <p:nvPr/>
        </p:nvSpPr>
        <p:spPr>
          <a:xfrm>
            <a:off x="1078992" y="566928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Across The Hills</a:t>
            </a:r>
          </a:p>
        </p:txBody>
      </p:sp>
      <p:sp>
        <p:nvSpPr>
          <p:cNvPr id="15" name="title"/>
          <p:cNvSpPr txBox="1"/>
          <p:nvPr/>
        </p:nvSpPr>
        <p:spPr>
          <a:xfrm>
            <a:off x="822960" y="914400"/>
            <a:ext cx="10546079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300" b="0" i="0">
                <a:solidFill>
                  <a:srgbClr val="FFFDF7"/>
                </a:solidFill>
                <a:latin typeface="Playfair Display"/>
              </a:rPr>
              <a:t>Where is Garh Kauthig celebrated?</a:t>
            </a:r>
          </a:p>
        </p:txBody>
      </p:sp>
      <p:sp>
        <p:nvSpPr>
          <p:cNvPr id="16" name="lead"/>
          <p:cNvSpPr txBox="1"/>
          <p:nvPr/>
        </p:nvSpPr>
        <p:spPr>
          <a:xfrm>
            <a:off x="822960" y="1481328"/>
            <a:ext cx="10546079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 i="0">
                <a:solidFill>
                  <a:srgbClr val="F2CE7B"/>
                </a:solidFill>
                <a:latin typeface="Poppins"/>
              </a:rPr>
              <a:t>In villages, towns and cities across Uttarakhand — especially Garhwal. It comes alive during:</a:t>
            </a:r>
          </a:p>
        </p:txBody>
      </p:sp>
      <p:sp>
        <p:nvSpPr>
          <p:cNvPr id="17" name="photo"/>
          <p:cNvSpPr/>
          <p:nvPr/>
        </p:nvSpPr>
        <p:spPr>
          <a:xfrm>
            <a:off x="822960" y="2286000"/>
            <a:ext cx="1889759" cy="1645920"/>
          </a:xfrm>
          <a:prstGeom prst="roundRect">
            <a:avLst>
              <a:gd name="adj" fmla="val 5000"/>
            </a:avLst>
          </a:prstGeom>
          <a:solidFill>
            <a:srgbClr val="12583F">
              <a:alpha val="32000"/>
            </a:srgbClr>
          </a:solidFill>
          <a:ln w="330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ev_seedling_F5A8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0951" y="2713939"/>
            <a:ext cx="493776" cy="4937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60" y="3339388"/>
            <a:ext cx="188975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F5A81C"/>
                </a:solidFill>
                <a:latin typeface="Montserrat"/>
              </a:rPr>
              <a:t>PHOTO</a:t>
            </a:r>
          </a:p>
        </p:txBody>
      </p:sp>
      <p:sp>
        <p:nvSpPr>
          <p:cNvPr id="20" name="Oval 19"/>
          <p:cNvSpPr/>
          <p:nvPr/>
        </p:nvSpPr>
        <p:spPr>
          <a:xfrm>
            <a:off x="1475231" y="3931920"/>
            <a:ext cx="585216" cy="585216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ev_seedling_1224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8127" y="4054815"/>
            <a:ext cx="339425" cy="339425"/>
          </a:xfrm>
          <a:prstGeom prst="rect">
            <a:avLst/>
          </a:prstGeom>
        </p:spPr>
      </p:pic>
      <p:sp>
        <p:nvSpPr>
          <p:cNvPr id="22" name="wh"/>
          <p:cNvSpPr txBox="1"/>
          <p:nvPr/>
        </p:nvSpPr>
        <p:spPr>
          <a:xfrm>
            <a:off x="731520" y="4590288"/>
            <a:ext cx="207263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 spc="40" cap="all">
                <a:solidFill>
                  <a:srgbClr val="0A3B2C"/>
                </a:solidFill>
                <a:latin typeface="Montserrat"/>
              </a:rPr>
              <a:t>HARVEST FESTIVALS</a:t>
            </a:r>
          </a:p>
        </p:txBody>
      </p:sp>
      <p:sp>
        <p:nvSpPr>
          <p:cNvPr id="23" name="wb"/>
          <p:cNvSpPr txBox="1"/>
          <p:nvPr/>
        </p:nvSpPr>
        <p:spPr>
          <a:xfrm>
            <a:off x="731520" y="4956048"/>
            <a:ext cx="2072639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4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Gratitude for bountiful crops and prosperity.</a:t>
            </a:r>
          </a:p>
        </p:txBody>
      </p:sp>
      <p:sp>
        <p:nvSpPr>
          <p:cNvPr id="24" name="photo"/>
          <p:cNvSpPr/>
          <p:nvPr/>
        </p:nvSpPr>
        <p:spPr>
          <a:xfrm>
            <a:off x="2987039" y="2286000"/>
            <a:ext cx="1889759" cy="1645920"/>
          </a:xfrm>
          <a:prstGeom prst="roundRect">
            <a:avLst>
              <a:gd name="adj" fmla="val 5000"/>
            </a:avLst>
          </a:prstGeom>
          <a:solidFill>
            <a:srgbClr val="12583F">
              <a:alpha val="32000"/>
            </a:srgbClr>
          </a:solidFill>
          <a:ln w="330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ev_temple_E23A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5031" y="2713939"/>
            <a:ext cx="493776" cy="4937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987039" y="3339388"/>
            <a:ext cx="188975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E23A2E"/>
                </a:solidFill>
                <a:latin typeface="Montserrat"/>
              </a:rPr>
              <a:t>PHOTO</a:t>
            </a:r>
          </a:p>
        </p:txBody>
      </p:sp>
      <p:sp>
        <p:nvSpPr>
          <p:cNvPr id="27" name="Oval 26"/>
          <p:cNvSpPr/>
          <p:nvPr/>
        </p:nvSpPr>
        <p:spPr>
          <a:xfrm>
            <a:off x="3639311" y="3931920"/>
            <a:ext cx="585216" cy="585216"/>
          </a:xfrm>
          <a:prstGeom prst="ellipse">
            <a:avLst/>
          </a:prstGeom>
          <a:solidFill>
            <a:srgbClr val="E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ev_temple_1224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207" y="4054815"/>
            <a:ext cx="339425" cy="339425"/>
          </a:xfrm>
          <a:prstGeom prst="rect">
            <a:avLst/>
          </a:prstGeom>
        </p:spPr>
      </p:pic>
      <p:sp>
        <p:nvSpPr>
          <p:cNvPr id="29" name="wh"/>
          <p:cNvSpPr txBox="1"/>
          <p:nvPr/>
        </p:nvSpPr>
        <p:spPr>
          <a:xfrm>
            <a:off x="2895599" y="4590288"/>
            <a:ext cx="207263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 spc="40" cap="all">
                <a:solidFill>
                  <a:srgbClr val="0A3B2C"/>
                </a:solidFill>
                <a:latin typeface="Montserrat"/>
              </a:rPr>
              <a:t>SACRED DAYS</a:t>
            </a:r>
          </a:p>
        </p:txBody>
      </p:sp>
      <p:sp>
        <p:nvSpPr>
          <p:cNvPr id="30" name="wb"/>
          <p:cNvSpPr txBox="1"/>
          <p:nvPr/>
        </p:nvSpPr>
        <p:spPr>
          <a:xfrm>
            <a:off x="2895599" y="4956048"/>
            <a:ext cx="2072639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4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Rituals and spiritual days across the hamlets.</a:t>
            </a:r>
          </a:p>
        </p:txBody>
      </p:sp>
      <p:sp>
        <p:nvSpPr>
          <p:cNvPr id="31" name="photo"/>
          <p:cNvSpPr/>
          <p:nvPr/>
        </p:nvSpPr>
        <p:spPr>
          <a:xfrm>
            <a:off x="5151119" y="2286000"/>
            <a:ext cx="1889759" cy="1645920"/>
          </a:xfrm>
          <a:prstGeom prst="roundRect">
            <a:avLst>
              <a:gd name="adj" fmla="val 5000"/>
            </a:avLst>
          </a:prstGeom>
          <a:solidFill>
            <a:srgbClr val="12583F">
              <a:alpha val="32000"/>
            </a:srgbClr>
          </a:solidFill>
          <a:ln w="330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ev_cart_17A6A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9111" y="2713939"/>
            <a:ext cx="493776" cy="49377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51119" y="3339388"/>
            <a:ext cx="188975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17A6A0"/>
                </a:solidFill>
                <a:latin typeface="Montserrat"/>
              </a:rPr>
              <a:t>PHOTO</a:t>
            </a:r>
          </a:p>
        </p:txBody>
      </p:sp>
      <p:sp>
        <p:nvSpPr>
          <p:cNvPr id="34" name="Oval 33"/>
          <p:cNvSpPr/>
          <p:nvPr/>
        </p:nvSpPr>
        <p:spPr>
          <a:xfrm>
            <a:off x="5803391" y="3931920"/>
            <a:ext cx="585216" cy="585216"/>
          </a:xfrm>
          <a:prstGeom prst="ellipse">
            <a:avLst/>
          </a:prstGeom>
          <a:solidFill>
            <a:srgbClr val="17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ev_cart_1224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26287" y="4054815"/>
            <a:ext cx="339425" cy="339425"/>
          </a:xfrm>
          <a:prstGeom prst="rect">
            <a:avLst/>
          </a:prstGeom>
        </p:spPr>
      </p:pic>
      <p:sp>
        <p:nvSpPr>
          <p:cNvPr id="36" name="wh"/>
          <p:cNvSpPr txBox="1"/>
          <p:nvPr/>
        </p:nvSpPr>
        <p:spPr>
          <a:xfrm>
            <a:off x="5059679" y="4590288"/>
            <a:ext cx="207263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 spc="40" cap="all">
                <a:solidFill>
                  <a:srgbClr val="0A3B2C"/>
                </a:solidFill>
                <a:latin typeface="Montserrat"/>
              </a:rPr>
              <a:t>COMMUNITY MELAS</a:t>
            </a:r>
          </a:p>
        </p:txBody>
      </p:sp>
      <p:sp>
        <p:nvSpPr>
          <p:cNvPr id="37" name="wb"/>
          <p:cNvSpPr txBox="1"/>
          <p:nvPr/>
        </p:nvSpPr>
        <p:spPr>
          <a:xfrm>
            <a:off x="5059679" y="4956048"/>
            <a:ext cx="2072639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4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Seasonal harvest gatherings and markets.</a:t>
            </a:r>
          </a:p>
        </p:txBody>
      </p:sp>
      <p:sp>
        <p:nvSpPr>
          <p:cNvPr id="38" name="photo"/>
          <p:cNvSpPr/>
          <p:nvPr/>
        </p:nvSpPr>
        <p:spPr>
          <a:xfrm>
            <a:off x="7315199" y="2286000"/>
            <a:ext cx="1889759" cy="1645920"/>
          </a:xfrm>
          <a:prstGeom prst="roundRect">
            <a:avLst>
              <a:gd name="adj" fmla="val 5000"/>
            </a:avLst>
          </a:prstGeom>
          <a:solidFill>
            <a:srgbClr val="12583F">
              <a:alpha val="32000"/>
            </a:srgbClr>
          </a:solidFill>
          <a:ln w="33020">
            <a:solidFill>
              <a:srgbClr val="EE7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ev_flag_EE7B1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3191" y="2713939"/>
            <a:ext cx="493776" cy="49377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315199" y="3339388"/>
            <a:ext cx="188975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EE7B1E"/>
                </a:solidFill>
                <a:latin typeface="Montserrat"/>
              </a:rPr>
              <a:t>PHOTO</a:t>
            </a:r>
          </a:p>
        </p:txBody>
      </p:sp>
      <p:sp>
        <p:nvSpPr>
          <p:cNvPr id="41" name="Oval 40"/>
          <p:cNvSpPr/>
          <p:nvPr/>
        </p:nvSpPr>
        <p:spPr>
          <a:xfrm>
            <a:off x="7967471" y="3931920"/>
            <a:ext cx="585216" cy="585216"/>
          </a:xfrm>
          <a:prstGeom prst="ellipse">
            <a:avLst/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ev_flag_12241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90367" y="4054815"/>
            <a:ext cx="339425" cy="339425"/>
          </a:xfrm>
          <a:prstGeom prst="rect">
            <a:avLst/>
          </a:prstGeom>
        </p:spPr>
      </p:pic>
      <p:sp>
        <p:nvSpPr>
          <p:cNvPr id="43" name="wh"/>
          <p:cNvSpPr txBox="1"/>
          <p:nvPr/>
        </p:nvSpPr>
        <p:spPr>
          <a:xfrm>
            <a:off x="7223759" y="4590288"/>
            <a:ext cx="207263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 spc="40" cap="all">
                <a:solidFill>
                  <a:srgbClr val="0A3B2C"/>
                </a:solidFill>
                <a:latin typeface="Montserrat"/>
              </a:rPr>
              <a:t>TEMPLE FAIRS</a:t>
            </a:r>
          </a:p>
        </p:txBody>
      </p:sp>
      <p:sp>
        <p:nvSpPr>
          <p:cNvPr id="44" name="wb"/>
          <p:cNvSpPr txBox="1"/>
          <p:nvPr/>
        </p:nvSpPr>
        <p:spPr>
          <a:xfrm>
            <a:off x="7223759" y="4956048"/>
            <a:ext cx="2072639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4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Deity processions and thanksgiving melas.</a:t>
            </a:r>
          </a:p>
        </p:txBody>
      </p:sp>
      <p:sp>
        <p:nvSpPr>
          <p:cNvPr id="45" name="photo"/>
          <p:cNvSpPr/>
          <p:nvPr/>
        </p:nvSpPr>
        <p:spPr>
          <a:xfrm>
            <a:off x="9479279" y="2286000"/>
            <a:ext cx="1889759" cy="1645920"/>
          </a:xfrm>
          <a:prstGeom prst="roundRect">
            <a:avLst>
              <a:gd name="adj" fmla="val 5000"/>
            </a:avLst>
          </a:prstGeom>
          <a:solidFill>
            <a:srgbClr val="12583F">
              <a:alpha val="32000"/>
            </a:srgbClr>
          </a:solidFill>
          <a:ln w="33020">
            <a:solidFill>
              <a:srgbClr val="D81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v_youth_D81E6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7271" y="2713939"/>
            <a:ext cx="493776" cy="4937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479279" y="3339388"/>
            <a:ext cx="188975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D81E6A"/>
                </a:solidFill>
                <a:latin typeface="Montserrat"/>
              </a:rPr>
              <a:t>PHOTO</a:t>
            </a:r>
          </a:p>
        </p:txBody>
      </p:sp>
      <p:sp>
        <p:nvSpPr>
          <p:cNvPr id="48" name="Oval 47"/>
          <p:cNvSpPr/>
          <p:nvPr/>
        </p:nvSpPr>
        <p:spPr>
          <a:xfrm>
            <a:off x="10131551" y="3931920"/>
            <a:ext cx="585216" cy="585216"/>
          </a:xfrm>
          <a:prstGeom prst="ellipse">
            <a:avLst/>
          </a:prstGeom>
          <a:solidFill>
            <a:srgbClr val="D81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ev_youth_12241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4447" y="4054815"/>
            <a:ext cx="339425" cy="339425"/>
          </a:xfrm>
          <a:prstGeom prst="rect">
            <a:avLst/>
          </a:prstGeom>
        </p:spPr>
      </p:pic>
      <p:sp>
        <p:nvSpPr>
          <p:cNvPr id="50" name="wh"/>
          <p:cNvSpPr txBox="1"/>
          <p:nvPr/>
        </p:nvSpPr>
        <p:spPr>
          <a:xfrm>
            <a:off x="9387839" y="4590288"/>
            <a:ext cx="207263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 spc="40" cap="all">
                <a:solidFill>
                  <a:srgbClr val="0A3B2C"/>
                </a:solidFill>
                <a:latin typeface="Montserrat"/>
              </a:rPr>
              <a:t>MODERN STAGES</a:t>
            </a:r>
          </a:p>
        </p:txBody>
      </p:sp>
      <p:sp>
        <p:nvSpPr>
          <p:cNvPr id="51" name="wb"/>
          <p:cNvSpPr txBox="1"/>
          <p:nvPr/>
        </p:nvSpPr>
        <p:spPr>
          <a:xfrm>
            <a:off x="9387839" y="4956048"/>
            <a:ext cx="2072639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4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Youth platforms celebrating folk arts today.</a:t>
            </a:r>
          </a:p>
        </p:txBody>
      </p:sp>
      <p:sp>
        <p:nvSpPr>
          <p:cNvPr id="52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53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Where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381 -0.00832 " pathEditMode="relative" ptsTypes="AA">
                                      <p:cBhvr additive="base">
                                        <p:cTn id="121" dur="10269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881 0.00395 " pathEditMode="relative" ptsTypes="AA">
                                      <p:cBhvr additive="base">
                                        <p:cTn id="127" dur="11370" autoRev="1" repeatCount="indefinite" accel="45000" decel="4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591 -0.02225 " pathEditMode="relative" ptsTypes="AA">
                                      <p:cBhvr additive="base">
                                        <p:cTn id="133" dur="13396" autoRev="1" repeatCount="indefinite" accel="45000" decel="4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678 0.02615 " pathEditMode="relative" ptsTypes="AA">
                                      <p:cBhvr additive="base">
                                        <p:cTn id="139" dur="11144" autoRev="1" repeatCount="indefinite" accel="45000" decel="45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565 0.02631 " pathEditMode="relative" ptsTypes="AA">
                                      <p:cBhvr additive="base">
                                        <p:cTn id="145" dur="15608" autoRev="1" repeatCount="indefinite" accel="45000" decel="45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370 -0.02681 " pathEditMode="relative" ptsTypes="AA">
                                      <p:cBhvr additive="base">
                                        <p:cTn id="151" dur="11372" autoRev="1" repeatCount="indefinite" accel="45000" decel="45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391 0.02837 " pathEditMode="relative" ptsTypes="AA">
                                      <p:cBhvr additive="base">
                                        <p:cTn id="157" dur="12050" autoRev="1" repeatCount="indefinite" accel="45000" decel="4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35 0.01374 " pathEditMode="relative" ptsTypes="AA">
                                      <p:cBhvr additive="base">
                                        <p:cTn id="163" dur="13144" autoRev="1" repeatCount="indefinite" accel="45000" decel="45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1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1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1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4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2" dur="1300" decel="7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42" presetClass="entr" presetSubtype="4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1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14" dur="1300" decel="7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9" presetID="42" presetClass="entr" presetSubtype="4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1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26" dur="1300" decel="7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1" presetID="42" presetClass="entr" presetSubtype="4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1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38" dur="1300" decel="7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3" presetID="42" presetClass="entr" presetSubtype="4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1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50" dur="1300" decel="7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42" presetClass="entr" presetSubtype="4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1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62" dur="1300" decel="7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7" presetID="42" presetClass="entr" presetSubtype="4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1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74" dur="1300" decel="7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9" presetID="42" presetClass="entr" presetSubtype="4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1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86" dur="1300" decel="7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1" presetID="42" presetClass="entr" presetSubtype="4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1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98" dur="1300" decel="7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3" presetID="42" presetClass="entr" presetSubtype="4" fill="hold" grpId="0" nodeType="withEffect">
                                  <p:stCondLst>
                                    <p:cond delay="217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1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310" dur="1300" decel="7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5" presetID="42" presetClass="entr" presetSubtype="4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1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322" dur="1300" decel="7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7" presetID="42" presetClass="entr" presetSubtype="4" fill="hold" grpId="0" nodeType="withEffect">
                                  <p:stCondLst>
                                    <p:cond delay="243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1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334" dur="1300" decel="7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9" presetID="42" presetClass="entr" presetSubtype="4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1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346" dur="1300" decel="7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1" presetID="42" presetClass="entr" presetSubtype="4" fill="hold" grpId="0" nodeType="withEffect">
                                  <p:stCondLst>
                                    <p:cond delay="269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1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358" dur="1300" decel="7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3" presetID="42" presetClass="entr" presetSubtype="4" fill="hold" grpId="0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1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370" dur="1300" decel="7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8" y="818388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eyebrow"/>
          <p:cNvSpPr txBox="1"/>
          <p:nvPr/>
        </p:nvSpPr>
        <p:spPr>
          <a:xfrm>
            <a:off x="1078992" y="749808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The Experience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822960" y="111556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800" b="0" i="0">
                <a:solidFill>
                  <a:srgbClr val="FFFDF7"/>
                </a:solidFill>
                <a:latin typeface="Playfair Display"/>
              </a:rPr>
              <a:t>What happens at a</a:t>
            </a:r>
          </a:p>
          <a:p>
            <a:r>
              <a:rPr sz="4400" b="0" i="0">
                <a:solidFill>
                  <a:srgbClr val="F5A81C"/>
                </a:solidFill>
                <a:latin typeface="Playfair Display"/>
              </a:rPr>
              <a:t>Garh Kauthig</a:t>
            </a:r>
          </a:p>
        </p:txBody>
      </p:sp>
      <p:sp>
        <p:nvSpPr>
          <p:cNvPr id="9" name="Oval 8"/>
          <p:cNvSpPr/>
          <p:nvPr/>
        </p:nvSpPr>
        <p:spPr>
          <a:xfrm>
            <a:off x="841247" y="2624328"/>
            <a:ext cx="585216" cy="585216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ev_dancer_1224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143" y="2747223"/>
            <a:ext cx="339425" cy="339425"/>
          </a:xfrm>
          <a:prstGeom prst="rect">
            <a:avLst/>
          </a:prstGeom>
        </p:spPr>
      </p:pic>
      <p:sp>
        <p:nvSpPr>
          <p:cNvPr id="11" name="act"/>
          <p:cNvSpPr txBox="1"/>
          <p:nvPr/>
        </p:nvSpPr>
        <p:spPr>
          <a:xfrm>
            <a:off x="1645920" y="2697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12000"/>
              </a:lnSpc>
            </a:pPr>
            <a:r>
              <a:rPr sz="1600" b="0" i="0">
                <a:solidFill>
                  <a:srgbClr val="FFFDF7"/>
                </a:solidFill>
                <a:latin typeface="Poppins"/>
              </a:rPr>
              <a:t>Garhwali &amp; Kumaoni folk dance and music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3374136"/>
            <a:ext cx="585216" cy="585216"/>
          </a:xfrm>
          <a:prstGeom prst="ellipse">
            <a:avLst/>
          </a:prstGeom>
          <a:solidFill>
            <a:srgbClr val="E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ev_flag_1224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143" y="3497031"/>
            <a:ext cx="339425" cy="339425"/>
          </a:xfrm>
          <a:prstGeom prst="rect">
            <a:avLst/>
          </a:prstGeom>
        </p:spPr>
      </p:pic>
      <p:sp>
        <p:nvSpPr>
          <p:cNvPr id="14" name="act"/>
          <p:cNvSpPr txBox="1"/>
          <p:nvPr/>
        </p:nvSpPr>
        <p:spPr>
          <a:xfrm>
            <a:off x="1645920" y="3447288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12000"/>
              </a:lnSpc>
            </a:pPr>
            <a:r>
              <a:rPr sz="1600" b="0" i="0">
                <a:solidFill>
                  <a:srgbClr val="FFFDF7"/>
                </a:solidFill>
                <a:latin typeface="Poppins"/>
              </a:rPr>
              <a:t>Cultural competitions and regional games</a:t>
            </a:r>
          </a:p>
        </p:txBody>
      </p:sp>
      <p:sp>
        <p:nvSpPr>
          <p:cNvPr id="15" name="Oval 14"/>
          <p:cNvSpPr/>
          <p:nvPr/>
        </p:nvSpPr>
        <p:spPr>
          <a:xfrm>
            <a:off x="841247" y="4123944"/>
            <a:ext cx="585216" cy="585216"/>
          </a:xfrm>
          <a:prstGeom prst="ellipse">
            <a:avLst/>
          </a:prstGeom>
          <a:solidFill>
            <a:srgbClr val="17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ev_sweet_1224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143" y="4246839"/>
            <a:ext cx="339425" cy="339425"/>
          </a:xfrm>
          <a:prstGeom prst="rect">
            <a:avLst/>
          </a:prstGeom>
        </p:spPr>
      </p:pic>
      <p:sp>
        <p:nvSpPr>
          <p:cNvPr id="17" name="act"/>
          <p:cNvSpPr txBox="1"/>
          <p:nvPr/>
        </p:nvSpPr>
        <p:spPr>
          <a:xfrm>
            <a:off x="1645920" y="4197096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12000"/>
              </a:lnSpc>
            </a:pPr>
            <a:r>
              <a:rPr sz="1600" b="0" i="0">
                <a:solidFill>
                  <a:srgbClr val="FFFDF7"/>
                </a:solidFill>
                <a:latin typeface="Poppins"/>
              </a:rPr>
              <a:t>Local, authentic food stalls and handicrafts</a:t>
            </a:r>
          </a:p>
        </p:txBody>
      </p:sp>
      <p:sp>
        <p:nvSpPr>
          <p:cNvPr id="18" name="Oval 17"/>
          <p:cNvSpPr/>
          <p:nvPr/>
        </p:nvSpPr>
        <p:spPr>
          <a:xfrm>
            <a:off x="841247" y="4873752"/>
            <a:ext cx="585216" cy="585216"/>
          </a:xfrm>
          <a:prstGeom prst="ellipse">
            <a:avLst/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ev_jewel_1224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4143" y="4996647"/>
            <a:ext cx="339425" cy="339425"/>
          </a:xfrm>
          <a:prstGeom prst="rect">
            <a:avLst/>
          </a:prstGeom>
        </p:spPr>
      </p:pic>
      <p:sp>
        <p:nvSpPr>
          <p:cNvPr id="20" name="act"/>
          <p:cNvSpPr txBox="1"/>
          <p:nvPr/>
        </p:nvSpPr>
        <p:spPr>
          <a:xfrm>
            <a:off x="1645920" y="494690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12000"/>
              </a:lnSpc>
            </a:pPr>
            <a:r>
              <a:rPr sz="1600" b="0" i="0">
                <a:solidFill>
                  <a:srgbClr val="FFFDF7"/>
                </a:solidFill>
                <a:latin typeface="Poppins"/>
              </a:rPr>
              <a:t>Traditional clothing and mountain jewellery</a:t>
            </a:r>
          </a:p>
        </p:txBody>
      </p:sp>
      <p:sp>
        <p:nvSpPr>
          <p:cNvPr id="21" name="panel"/>
          <p:cNvSpPr/>
          <p:nvPr/>
        </p:nvSpPr>
        <p:spPr>
          <a:xfrm>
            <a:off x="6583680" y="1325880"/>
            <a:ext cx="4754880" cy="4251960"/>
          </a:xfrm>
          <a:prstGeom prst="roundRect">
            <a:avLst>
              <a:gd name="adj" fmla="val 5000"/>
            </a:avLst>
          </a:prstGeom>
          <a:solidFill>
            <a:srgbClr val="F5A81C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ph"/>
          <p:cNvSpPr txBox="1"/>
          <p:nvPr/>
        </p:nvSpPr>
        <p:spPr>
          <a:xfrm>
            <a:off x="6903720" y="1645920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300" b="1" i="0" spc="120" cap="all">
                <a:solidFill>
                  <a:srgbClr val="0A3B2C"/>
                </a:solidFill>
                <a:latin typeface="Montserrat"/>
              </a:rPr>
              <a:t>POPULAR FOLK PERFORMANCES</a:t>
            </a:r>
          </a:p>
        </p:txBody>
      </p:sp>
      <p:sp>
        <p:nvSpPr>
          <p:cNvPr id="23" name="pv"/>
          <p:cNvSpPr txBox="1"/>
          <p:nvPr/>
        </p:nvSpPr>
        <p:spPr>
          <a:xfrm>
            <a:off x="6903720" y="2286000"/>
            <a:ext cx="416052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22000"/>
              </a:lnSpc>
            </a:pPr>
            <a:r>
              <a:rPr sz="2000" b="0" i="0">
                <a:solidFill>
                  <a:srgbClr val="12241C"/>
                </a:solidFill>
                <a:latin typeface="Playfair Display"/>
              </a:rPr>
              <a:t>Jhora · Chanchari · Chholiya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2000" b="0" i="0">
                <a:solidFill>
                  <a:srgbClr val="12241C"/>
                </a:solidFill>
                <a:latin typeface="Playfair Display"/>
              </a:rPr>
              <a:t>Pandav Nritya · Langvir Nritya</a:t>
            </a:r>
          </a:p>
        </p:txBody>
      </p:sp>
      <p:sp>
        <p:nvSpPr>
          <p:cNvPr id="24" name="pb"/>
          <p:cNvSpPr txBox="1"/>
          <p:nvPr/>
        </p:nvSpPr>
        <p:spPr>
          <a:xfrm>
            <a:off x="6903720" y="3611880"/>
            <a:ext cx="4160520" cy="1737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34000"/>
              </a:lnSpc>
            </a:pPr>
            <a:r>
              <a:rPr sz="1300" b="0" i="0">
                <a:solidFill>
                  <a:srgbClr val="0A3B2C"/>
                </a:solidFill>
                <a:latin typeface="Poppins"/>
              </a:rPr>
              <a:t>Mesmerising performances that carry the martial spirit and living culture of the mountains — danced in a circle, together.</a:t>
            </a:r>
          </a:p>
        </p:txBody>
      </p:sp>
      <p:sp>
        <p:nvSpPr>
          <p:cNvPr id="25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26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What Happens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54" dur="1300" decel="7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4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66" dur="1300" decel="7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4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78" dur="1300" decel="7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42" presetClass="entr" presetSubtype="4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90" dur="1300" decel="7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4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2" dur="1300" decel="7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2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1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4" dur="1200" decel="650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1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entr" presetSubtype="4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1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35" dur="1200" decel="7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1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8" y="672084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eyebrow"/>
          <p:cNvSpPr txBox="1"/>
          <p:nvPr/>
        </p:nvSpPr>
        <p:spPr>
          <a:xfrm>
            <a:off x="1078992" y="603504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Living Culture  ·  The Dance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822960" y="969264"/>
            <a:ext cx="10546079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400" b="0" i="0">
                <a:solidFill>
                  <a:srgbClr val="FFFDF7"/>
                </a:solidFill>
                <a:latin typeface="Playfair Display"/>
              </a:rPr>
              <a:t>Folk dances that tell our stories</a:t>
            </a:r>
          </a:p>
        </p:txBody>
      </p:sp>
      <p:sp>
        <p:nvSpPr>
          <p:cNvPr id="9" name="cc"/>
          <p:cNvSpPr/>
          <p:nvPr/>
        </p:nvSpPr>
        <p:spPr>
          <a:xfrm>
            <a:off x="822960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cbar"/>
          <p:cNvSpPr/>
          <p:nvPr/>
        </p:nvSpPr>
        <p:spPr>
          <a:xfrm>
            <a:off x="822960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F5A81C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409395" y="2249424"/>
            <a:ext cx="731520" cy="731520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ev_jhora_1224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014" y="2403043"/>
            <a:ext cx="424281" cy="424281"/>
          </a:xfrm>
          <a:prstGeom prst="rect">
            <a:avLst/>
          </a:prstGeom>
        </p:spPr>
      </p:pic>
      <p:sp>
        <p:nvSpPr>
          <p:cNvPr id="13" name="ccname"/>
          <p:cNvSpPr txBox="1"/>
          <p:nvPr/>
        </p:nvSpPr>
        <p:spPr>
          <a:xfrm>
            <a:off x="896112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Jhora</a:t>
            </a:r>
          </a:p>
        </p:txBody>
      </p:sp>
      <p:sp>
        <p:nvSpPr>
          <p:cNvPr id="14" name="ccdesc"/>
          <p:cNvSpPr txBox="1"/>
          <p:nvPr/>
        </p:nvSpPr>
        <p:spPr>
          <a:xfrm>
            <a:off x="969264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Everyone in one circle — arms linked, swaying to the hurka drum, across every community.</a:t>
            </a:r>
          </a:p>
        </p:txBody>
      </p:sp>
      <p:sp>
        <p:nvSpPr>
          <p:cNvPr id="15" name="cc"/>
          <p:cNvSpPr/>
          <p:nvPr/>
        </p:nvSpPr>
        <p:spPr>
          <a:xfrm>
            <a:off x="2983382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cbar"/>
          <p:cNvSpPr/>
          <p:nvPr/>
        </p:nvSpPr>
        <p:spPr>
          <a:xfrm>
            <a:off x="2983382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E23A2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3569817" y="2249424"/>
            <a:ext cx="731520" cy="731520"/>
          </a:xfrm>
          <a:prstGeom prst="ellipse">
            <a:avLst/>
          </a:prstGeom>
          <a:solidFill>
            <a:srgbClr val="E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ev_sword_1224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3436" y="2403043"/>
            <a:ext cx="424281" cy="424281"/>
          </a:xfrm>
          <a:prstGeom prst="rect">
            <a:avLst/>
          </a:prstGeom>
        </p:spPr>
      </p:pic>
      <p:sp>
        <p:nvSpPr>
          <p:cNvPr id="19" name="ccname"/>
          <p:cNvSpPr txBox="1"/>
          <p:nvPr/>
        </p:nvSpPr>
        <p:spPr>
          <a:xfrm>
            <a:off x="3056534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Chholiya</a:t>
            </a:r>
          </a:p>
        </p:txBody>
      </p:sp>
      <p:sp>
        <p:nvSpPr>
          <p:cNvPr id="20" name="ccdesc"/>
          <p:cNvSpPr txBox="1"/>
          <p:nvPr/>
        </p:nvSpPr>
        <p:spPr>
          <a:xfrm>
            <a:off x="3129686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The sword dance: shields and blades flash to guard a wedding procession from evil.</a:t>
            </a:r>
          </a:p>
        </p:txBody>
      </p:sp>
      <p:sp>
        <p:nvSpPr>
          <p:cNvPr id="21" name="cc"/>
          <p:cNvSpPr/>
          <p:nvPr/>
        </p:nvSpPr>
        <p:spPr>
          <a:xfrm>
            <a:off x="5143804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ccbar"/>
          <p:cNvSpPr/>
          <p:nvPr/>
        </p:nvSpPr>
        <p:spPr>
          <a:xfrm>
            <a:off x="5143804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17A6A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5730239" y="2249424"/>
            <a:ext cx="731520" cy="731520"/>
          </a:xfrm>
          <a:prstGeom prst="ellipse">
            <a:avLst/>
          </a:prstGeom>
          <a:solidFill>
            <a:srgbClr val="17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ev_hands_1224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3859" y="2403043"/>
            <a:ext cx="424281" cy="424281"/>
          </a:xfrm>
          <a:prstGeom prst="rect">
            <a:avLst/>
          </a:prstGeom>
        </p:spPr>
      </p:pic>
      <p:sp>
        <p:nvSpPr>
          <p:cNvPr id="25" name="ccname"/>
          <p:cNvSpPr txBox="1"/>
          <p:nvPr/>
        </p:nvSpPr>
        <p:spPr>
          <a:xfrm>
            <a:off x="5216956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Chanchari</a:t>
            </a:r>
          </a:p>
        </p:txBody>
      </p:sp>
      <p:sp>
        <p:nvSpPr>
          <p:cNvPr id="26" name="ccdesc"/>
          <p:cNvSpPr txBox="1"/>
          <p:nvPr/>
        </p:nvSpPr>
        <p:spPr>
          <a:xfrm>
            <a:off x="5290108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A gentle group circle from the Danpur valley, danced slow and together.</a:t>
            </a:r>
          </a:p>
        </p:txBody>
      </p:sp>
      <p:sp>
        <p:nvSpPr>
          <p:cNvPr id="27" name="cc"/>
          <p:cNvSpPr/>
          <p:nvPr/>
        </p:nvSpPr>
        <p:spPr>
          <a:xfrm>
            <a:off x="7304227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7A3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ccbar"/>
          <p:cNvSpPr/>
          <p:nvPr/>
        </p:nvSpPr>
        <p:spPr>
          <a:xfrm>
            <a:off x="7304227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7A3FB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890662" y="2249424"/>
            <a:ext cx="731520" cy="731520"/>
          </a:xfrm>
          <a:prstGeom prst="ellipse">
            <a:avLst/>
          </a:prstGeom>
          <a:solidFill>
            <a:srgbClr val="7A3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ev_trident_1224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4281" y="2403043"/>
            <a:ext cx="424281" cy="424281"/>
          </a:xfrm>
          <a:prstGeom prst="rect">
            <a:avLst/>
          </a:prstGeom>
        </p:spPr>
      </p:pic>
      <p:sp>
        <p:nvSpPr>
          <p:cNvPr id="31" name="ccname"/>
          <p:cNvSpPr txBox="1"/>
          <p:nvPr/>
        </p:nvSpPr>
        <p:spPr>
          <a:xfrm>
            <a:off x="7377379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Pandav Nritya</a:t>
            </a:r>
          </a:p>
        </p:txBody>
      </p:sp>
      <p:sp>
        <p:nvSpPr>
          <p:cNvPr id="32" name="ccdesc"/>
          <p:cNvSpPr txBox="1"/>
          <p:nvPr/>
        </p:nvSpPr>
        <p:spPr>
          <a:xfrm>
            <a:off x="7450531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The Mahabharata, danced — the Pandavas’ tale through trance, song and drum.</a:t>
            </a:r>
          </a:p>
        </p:txBody>
      </p:sp>
      <p:sp>
        <p:nvSpPr>
          <p:cNvPr id="33" name="cc"/>
          <p:cNvSpPr/>
          <p:nvPr/>
        </p:nvSpPr>
        <p:spPr>
          <a:xfrm>
            <a:off x="9464649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1E6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cbar"/>
          <p:cNvSpPr/>
          <p:nvPr/>
        </p:nvSpPr>
        <p:spPr>
          <a:xfrm>
            <a:off x="9464649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1E63B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0051084" y="2249424"/>
            <a:ext cx="731520" cy="731520"/>
          </a:xfrm>
          <a:prstGeom prst="ellipse">
            <a:avLst/>
          </a:prstGeom>
          <a:solidFill>
            <a:srgbClr val="1E6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ev_dancer_1224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04703" y="2403043"/>
            <a:ext cx="424281" cy="424281"/>
          </a:xfrm>
          <a:prstGeom prst="rect">
            <a:avLst/>
          </a:prstGeom>
        </p:spPr>
      </p:pic>
      <p:sp>
        <p:nvSpPr>
          <p:cNvPr id="37" name="ccname"/>
          <p:cNvSpPr txBox="1"/>
          <p:nvPr/>
        </p:nvSpPr>
        <p:spPr>
          <a:xfrm>
            <a:off x="9537801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Langvir Nritya</a:t>
            </a:r>
          </a:p>
        </p:txBody>
      </p:sp>
      <p:sp>
        <p:nvSpPr>
          <p:cNvPr id="38" name="ccdesc"/>
          <p:cNvSpPr txBox="1"/>
          <p:nvPr/>
        </p:nvSpPr>
        <p:spPr>
          <a:xfrm>
            <a:off x="9610953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The daring one: a lone acrobat climbs a tall pole and balances at the top.</a:t>
            </a:r>
          </a:p>
        </p:txBody>
      </p:sp>
      <p:sp>
        <p:nvSpPr>
          <p:cNvPr id="39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40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Folk Dance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54" dur="1200" decel="7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4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66" dur="1300" decel="7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4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78" dur="1300" decel="7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4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90" dur="1300" decel="7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4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2" dur="1300" decel="7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4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1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14" dur="1300" decel="7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D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8" y="672084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eyebrow"/>
          <p:cNvSpPr txBox="1"/>
          <p:nvPr/>
        </p:nvSpPr>
        <p:spPr>
          <a:xfrm>
            <a:off x="1078992" y="603504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EE7B1E"/>
                </a:solidFill>
                <a:latin typeface="Montserrat"/>
              </a:rPr>
              <a:t>Living Culture  ·  The Sound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822960" y="969264"/>
            <a:ext cx="10546079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400" b="0" i="0">
                <a:solidFill>
                  <a:srgbClr val="0A3B2C"/>
                </a:solidFill>
                <a:latin typeface="Playfair Display"/>
              </a:rPr>
              <a:t>The instruments that set the beat</a:t>
            </a:r>
          </a:p>
        </p:txBody>
      </p:sp>
      <p:sp>
        <p:nvSpPr>
          <p:cNvPr id="9" name="cc"/>
          <p:cNvSpPr/>
          <p:nvPr/>
        </p:nvSpPr>
        <p:spPr>
          <a:xfrm>
            <a:off x="822960" y="1993392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cbar"/>
          <p:cNvSpPr/>
          <p:nvPr/>
        </p:nvSpPr>
        <p:spPr>
          <a:xfrm>
            <a:off x="822960" y="1993392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E23A2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143983" y="2249424"/>
            <a:ext cx="702624" cy="702624"/>
          </a:xfrm>
          <a:prstGeom prst="ellipse">
            <a:avLst/>
          </a:prstGeom>
          <a:solidFill>
            <a:srgbClr val="E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ev_dhol_1224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1534" y="2396975"/>
            <a:ext cx="407522" cy="407522"/>
          </a:xfrm>
          <a:prstGeom prst="rect">
            <a:avLst/>
          </a:prstGeom>
        </p:spPr>
      </p:pic>
      <p:sp>
        <p:nvSpPr>
          <p:cNvPr id="13" name="ccname"/>
          <p:cNvSpPr txBox="1"/>
          <p:nvPr/>
        </p:nvSpPr>
        <p:spPr>
          <a:xfrm>
            <a:off x="896112" y="3006912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Dhol</a:t>
            </a:r>
          </a:p>
        </p:txBody>
      </p:sp>
      <p:sp>
        <p:nvSpPr>
          <p:cNvPr id="14" name="ccdesc"/>
          <p:cNvSpPr txBox="1"/>
          <p:nvPr/>
        </p:nvSpPr>
        <p:spPr>
          <a:xfrm>
            <a:off x="969264" y="3518976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The big double-headed drum — the heartbeat of every fair.</a:t>
            </a:r>
          </a:p>
        </p:txBody>
      </p:sp>
      <p:sp>
        <p:nvSpPr>
          <p:cNvPr id="15" name="cc"/>
          <p:cNvSpPr/>
          <p:nvPr/>
        </p:nvSpPr>
        <p:spPr>
          <a:xfrm>
            <a:off x="4423663" y="1993392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cbar"/>
          <p:cNvSpPr/>
          <p:nvPr/>
        </p:nvSpPr>
        <p:spPr>
          <a:xfrm>
            <a:off x="4423663" y="1993392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F5A81C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744687" y="2249424"/>
            <a:ext cx="702624" cy="702624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ev_damau_1224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2238" y="2396975"/>
            <a:ext cx="407522" cy="407522"/>
          </a:xfrm>
          <a:prstGeom prst="rect">
            <a:avLst/>
          </a:prstGeom>
        </p:spPr>
      </p:pic>
      <p:sp>
        <p:nvSpPr>
          <p:cNvPr id="19" name="ccname"/>
          <p:cNvSpPr txBox="1"/>
          <p:nvPr/>
        </p:nvSpPr>
        <p:spPr>
          <a:xfrm>
            <a:off x="4496815" y="3006912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Damau</a:t>
            </a:r>
          </a:p>
        </p:txBody>
      </p:sp>
      <p:sp>
        <p:nvSpPr>
          <p:cNvPr id="20" name="ccdesc"/>
          <p:cNvSpPr txBox="1"/>
          <p:nvPr/>
        </p:nvSpPr>
        <p:spPr>
          <a:xfrm>
            <a:off x="4569967" y="3518976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The dhol’s copper partner, keeping the fast pulse.</a:t>
            </a:r>
          </a:p>
        </p:txBody>
      </p:sp>
      <p:sp>
        <p:nvSpPr>
          <p:cNvPr id="21" name="cc"/>
          <p:cNvSpPr/>
          <p:nvPr/>
        </p:nvSpPr>
        <p:spPr>
          <a:xfrm>
            <a:off x="8024367" y="1993392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EE7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ccbar"/>
          <p:cNvSpPr/>
          <p:nvPr/>
        </p:nvSpPr>
        <p:spPr>
          <a:xfrm>
            <a:off x="8024367" y="1993392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EE7B1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345391" y="2249424"/>
            <a:ext cx="702624" cy="702624"/>
          </a:xfrm>
          <a:prstGeom prst="ellipse">
            <a:avLst/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ev_ransingha_1224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2942" y="2396975"/>
            <a:ext cx="407522" cy="407522"/>
          </a:xfrm>
          <a:prstGeom prst="rect">
            <a:avLst/>
          </a:prstGeom>
        </p:spPr>
      </p:pic>
      <p:sp>
        <p:nvSpPr>
          <p:cNvPr id="25" name="ccname"/>
          <p:cNvSpPr txBox="1"/>
          <p:nvPr/>
        </p:nvSpPr>
        <p:spPr>
          <a:xfrm>
            <a:off x="8097519" y="3006912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Ransingha</a:t>
            </a:r>
          </a:p>
        </p:txBody>
      </p:sp>
      <p:sp>
        <p:nvSpPr>
          <p:cNvPr id="26" name="ccdesc"/>
          <p:cNvSpPr txBox="1"/>
          <p:nvPr/>
        </p:nvSpPr>
        <p:spPr>
          <a:xfrm>
            <a:off x="8170671" y="3518976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A curved brass horn whose call carries for miles.</a:t>
            </a:r>
          </a:p>
        </p:txBody>
      </p:sp>
      <p:sp>
        <p:nvSpPr>
          <p:cNvPr id="27" name="cc"/>
          <p:cNvSpPr/>
          <p:nvPr/>
        </p:nvSpPr>
        <p:spPr>
          <a:xfrm>
            <a:off x="822960" y="4315968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ccbar"/>
          <p:cNvSpPr/>
          <p:nvPr/>
        </p:nvSpPr>
        <p:spPr>
          <a:xfrm>
            <a:off x="822960" y="4315968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17A6A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143983" y="4572000"/>
            <a:ext cx="702624" cy="702624"/>
          </a:xfrm>
          <a:prstGeom prst="ellipse">
            <a:avLst/>
          </a:prstGeom>
          <a:solidFill>
            <a:srgbClr val="17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ev_bhankora_1224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91534" y="4719551"/>
            <a:ext cx="407522" cy="407522"/>
          </a:xfrm>
          <a:prstGeom prst="rect">
            <a:avLst/>
          </a:prstGeom>
        </p:spPr>
      </p:pic>
      <p:sp>
        <p:nvSpPr>
          <p:cNvPr id="31" name="ccname"/>
          <p:cNvSpPr txBox="1"/>
          <p:nvPr/>
        </p:nvSpPr>
        <p:spPr>
          <a:xfrm>
            <a:off x="896112" y="5329488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Bhankora</a:t>
            </a:r>
          </a:p>
        </p:txBody>
      </p:sp>
      <p:sp>
        <p:nvSpPr>
          <p:cNvPr id="32" name="ccdesc"/>
          <p:cNvSpPr txBox="1"/>
          <p:nvPr/>
        </p:nvSpPr>
        <p:spPr>
          <a:xfrm>
            <a:off x="969264" y="5841552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A long straight temple trumpet of Garhwal.</a:t>
            </a:r>
          </a:p>
        </p:txBody>
      </p:sp>
      <p:sp>
        <p:nvSpPr>
          <p:cNvPr id="33" name="cc"/>
          <p:cNvSpPr/>
          <p:nvPr/>
        </p:nvSpPr>
        <p:spPr>
          <a:xfrm>
            <a:off x="4423663" y="4315968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1E6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cbar"/>
          <p:cNvSpPr/>
          <p:nvPr/>
        </p:nvSpPr>
        <p:spPr>
          <a:xfrm>
            <a:off x="4423663" y="4315968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1E63B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744687" y="4572000"/>
            <a:ext cx="702624" cy="702624"/>
          </a:xfrm>
          <a:prstGeom prst="ellipse">
            <a:avLst/>
          </a:prstGeom>
          <a:solidFill>
            <a:srgbClr val="1E6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ev_hurka_1224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2238" y="4719551"/>
            <a:ext cx="407522" cy="407522"/>
          </a:xfrm>
          <a:prstGeom prst="rect">
            <a:avLst/>
          </a:prstGeom>
        </p:spPr>
      </p:pic>
      <p:sp>
        <p:nvSpPr>
          <p:cNvPr id="37" name="ccname"/>
          <p:cNvSpPr txBox="1"/>
          <p:nvPr/>
        </p:nvSpPr>
        <p:spPr>
          <a:xfrm>
            <a:off x="4496815" y="5329488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Hurka</a:t>
            </a:r>
          </a:p>
        </p:txBody>
      </p:sp>
      <p:sp>
        <p:nvSpPr>
          <p:cNvPr id="38" name="ccdesc"/>
          <p:cNvSpPr txBox="1"/>
          <p:nvPr/>
        </p:nvSpPr>
        <p:spPr>
          <a:xfrm>
            <a:off x="4569967" y="5841552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The hourglass drum that leads the Jhora circle.</a:t>
            </a:r>
          </a:p>
        </p:txBody>
      </p:sp>
      <p:sp>
        <p:nvSpPr>
          <p:cNvPr id="39" name="cc"/>
          <p:cNvSpPr/>
          <p:nvPr/>
        </p:nvSpPr>
        <p:spPr>
          <a:xfrm>
            <a:off x="8024367" y="4315968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D81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ccbar"/>
          <p:cNvSpPr/>
          <p:nvPr/>
        </p:nvSpPr>
        <p:spPr>
          <a:xfrm>
            <a:off x="8024367" y="4315968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D81E6A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9345391" y="4572000"/>
            <a:ext cx="702624" cy="702624"/>
          </a:xfrm>
          <a:prstGeom prst="ellipse">
            <a:avLst/>
          </a:prstGeom>
          <a:solidFill>
            <a:srgbClr val="D81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ev_masakbeen_12241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92942" y="4719551"/>
            <a:ext cx="407522" cy="407522"/>
          </a:xfrm>
          <a:prstGeom prst="rect">
            <a:avLst/>
          </a:prstGeom>
        </p:spPr>
      </p:pic>
      <p:sp>
        <p:nvSpPr>
          <p:cNvPr id="43" name="ccname"/>
          <p:cNvSpPr txBox="1"/>
          <p:nvPr/>
        </p:nvSpPr>
        <p:spPr>
          <a:xfrm>
            <a:off x="8097519" y="5329488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Masakbeen</a:t>
            </a:r>
          </a:p>
        </p:txBody>
      </p:sp>
      <p:sp>
        <p:nvSpPr>
          <p:cNvPr id="44" name="ccdesc"/>
          <p:cNvSpPr txBox="1"/>
          <p:nvPr/>
        </p:nvSpPr>
        <p:spPr>
          <a:xfrm>
            <a:off x="8170671" y="5841552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The Himalayan bagpipe — a reed for celebration.</a:t>
            </a:r>
          </a:p>
        </p:txBody>
      </p:sp>
      <p:sp>
        <p:nvSpPr>
          <p:cNvPr id="45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46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Folk Music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54" dur="1200" decel="7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4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66" dur="1300" decel="7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4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78" dur="1300" decel="7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4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90" dur="1300" decel="7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4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2" dur="1300" decel="7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4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1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14" dur="1300" decel="7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9" presetID="42" presetClass="entr" presetSubtype="4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1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26" dur="1300" decel="7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8" y="672084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eyebrow"/>
          <p:cNvSpPr txBox="1"/>
          <p:nvPr/>
        </p:nvSpPr>
        <p:spPr>
          <a:xfrm>
            <a:off x="1078992" y="603504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Living Culture  ·  What We Wear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822960" y="969264"/>
            <a:ext cx="10546079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400" b="0" i="0">
                <a:solidFill>
                  <a:srgbClr val="FFFDF7"/>
                </a:solidFill>
                <a:latin typeface="Playfair Display"/>
              </a:rPr>
              <a:t>Colour, cloth and mountain gold</a:t>
            </a:r>
          </a:p>
        </p:txBody>
      </p:sp>
      <p:sp>
        <p:nvSpPr>
          <p:cNvPr id="9" name="cc"/>
          <p:cNvSpPr/>
          <p:nvPr/>
        </p:nvSpPr>
        <p:spPr>
          <a:xfrm>
            <a:off x="822960" y="1993392"/>
            <a:ext cx="2444495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cbar"/>
          <p:cNvSpPr/>
          <p:nvPr/>
        </p:nvSpPr>
        <p:spPr>
          <a:xfrm>
            <a:off x="822960" y="1993392"/>
            <a:ext cx="2444495" cy="109728"/>
          </a:xfrm>
          <a:prstGeom prst="roundRect">
            <a:avLst>
              <a:gd name="adj" fmla="val 50000"/>
            </a:avLst>
          </a:prstGeom>
          <a:solidFill>
            <a:srgbClr val="F5A81C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679447" y="2249424"/>
            <a:ext cx="731520" cy="731520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ev_pichhora_1224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3067" y="2403043"/>
            <a:ext cx="424281" cy="424281"/>
          </a:xfrm>
          <a:prstGeom prst="rect">
            <a:avLst/>
          </a:prstGeom>
        </p:spPr>
      </p:pic>
      <p:sp>
        <p:nvSpPr>
          <p:cNvPr id="13" name="ccname"/>
          <p:cNvSpPr txBox="1"/>
          <p:nvPr/>
        </p:nvSpPr>
        <p:spPr>
          <a:xfrm>
            <a:off x="896112" y="3035808"/>
            <a:ext cx="2298191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Rangwali Pichhora</a:t>
            </a:r>
          </a:p>
        </p:txBody>
      </p:sp>
      <p:sp>
        <p:nvSpPr>
          <p:cNvPr id="14" name="ccdesc"/>
          <p:cNvSpPr txBox="1"/>
          <p:nvPr/>
        </p:nvSpPr>
        <p:spPr>
          <a:xfrm>
            <a:off x="969264" y="3547872"/>
            <a:ext cx="2151887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The hand-painted yellow odhni of married women, made while singing blessings.</a:t>
            </a:r>
          </a:p>
        </p:txBody>
      </p:sp>
      <p:sp>
        <p:nvSpPr>
          <p:cNvPr id="15" name="cc"/>
          <p:cNvSpPr/>
          <p:nvPr/>
        </p:nvSpPr>
        <p:spPr>
          <a:xfrm>
            <a:off x="3523487" y="1993392"/>
            <a:ext cx="2444495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D81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cbar"/>
          <p:cNvSpPr/>
          <p:nvPr/>
        </p:nvSpPr>
        <p:spPr>
          <a:xfrm>
            <a:off x="3523487" y="1993392"/>
            <a:ext cx="2444495" cy="109728"/>
          </a:xfrm>
          <a:prstGeom prst="roundRect">
            <a:avLst>
              <a:gd name="adj" fmla="val 50000"/>
            </a:avLst>
          </a:prstGeom>
          <a:solidFill>
            <a:srgbClr val="D81E6A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379975" y="2249424"/>
            <a:ext cx="731520" cy="731520"/>
          </a:xfrm>
          <a:prstGeom prst="ellipse">
            <a:avLst/>
          </a:prstGeom>
          <a:solidFill>
            <a:srgbClr val="D81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ev_loom_1224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3595" y="2403043"/>
            <a:ext cx="424281" cy="424281"/>
          </a:xfrm>
          <a:prstGeom prst="rect">
            <a:avLst/>
          </a:prstGeom>
        </p:spPr>
      </p:pic>
      <p:sp>
        <p:nvSpPr>
          <p:cNvPr id="19" name="ccname"/>
          <p:cNvSpPr txBox="1"/>
          <p:nvPr/>
        </p:nvSpPr>
        <p:spPr>
          <a:xfrm>
            <a:off x="3596639" y="3035808"/>
            <a:ext cx="2298191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Ghagra · Choli · Orni</a:t>
            </a:r>
          </a:p>
        </p:txBody>
      </p:sp>
      <p:sp>
        <p:nvSpPr>
          <p:cNvPr id="20" name="ccdesc"/>
          <p:cNvSpPr txBox="1"/>
          <p:nvPr/>
        </p:nvSpPr>
        <p:spPr>
          <a:xfrm>
            <a:off x="3669791" y="3547872"/>
            <a:ext cx="2151887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A flowing skirt, fitted blouse and veil — the everyday grace of the hills.</a:t>
            </a:r>
          </a:p>
        </p:txBody>
      </p:sp>
      <p:sp>
        <p:nvSpPr>
          <p:cNvPr id="21" name="cc"/>
          <p:cNvSpPr/>
          <p:nvPr/>
        </p:nvSpPr>
        <p:spPr>
          <a:xfrm>
            <a:off x="6224015" y="1993392"/>
            <a:ext cx="2444495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ccbar"/>
          <p:cNvSpPr/>
          <p:nvPr/>
        </p:nvSpPr>
        <p:spPr>
          <a:xfrm>
            <a:off x="6224015" y="1993392"/>
            <a:ext cx="2444495" cy="109728"/>
          </a:xfrm>
          <a:prstGeom prst="roundRect">
            <a:avLst>
              <a:gd name="adj" fmla="val 50000"/>
            </a:avLst>
          </a:prstGeom>
          <a:solidFill>
            <a:srgbClr val="E23A2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080503" y="2249424"/>
            <a:ext cx="731520" cy="731520"/>
          </a:xfrm>
          <a:prstGeom prst="ellipse">
            <a:avLst/>
          </a:prstGeom>
          <a:solidFill>
            <a:srgbClr val="E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ev_jewel_1224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4123" y="2403043"/>
            <a:ext cx="424281" cy="424281"/>
          </a:xfrm>
          <a:prstGeom prst="rect">
            <a:avLst/>
          </a:prstGeom>
        </p:spPr>
      </p:pic>
      <p:sp>
        <p:nvSpPr>
          <p:cNvPr id="25" name="ccname"/>
          <p:cNvSpPr txBox="1"/>
          <p:nvPr/>
        </p:nvSpPr>
        <p:spPr>
          <a:xfrm>
            <a:off x="6297167" y="3035808"/>
            <a:ext cx="2298191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Nath</a:t>
            </a:r>
          </a:p>
        </p:txBody>
      </p:sp>
      <p:sp>
        <p:nvSpPr>
          <p:cNvPr id="26" name="ccdesc"/>
          <p:cNvSpPr txBox="1"/>
          <p:nvPr/>
        </p:nvSpPr>
        <p:spPr>
          <a:xfrm>
            <a:off x="6370319" y="3547872"/>
            <a:ext cx="2151887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The grand golden nose-ring, the pride of a Kumaoni bride.</a:t>
            </a:r>
          </a:p>
        </p:txBody>
      </p:sp>
      <p:sp>
        <p:nvSpPr>
          <p:cNvPr id="27" name="cc"/>
          <p:cNvSpPr/>
          <p:nvPr/>
        </p:nvSpPr>
        <p:spPr>
          <a:xfrm>
            <a:off x="8924543" y="1993392"/>
            <a:ext cx="2444495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ccbar"/>
          <p:cNvSpPr/>
          <p:nvPr/>
        </p:nvSpPr>
        <p:spPr>
          <a:xfrm>
            <a:off x="8924543" y="1993392"/>
            <a:ext cx="2444495" cy="109728"/>
          </a:xfrm>
          <a:prstGeom prst="roundRect">
            <a:avLst>
              <a:gd name="adj" fmla="val 50000"/>
            </a:avLst>
          </a:prstGeom>
          <a:solidFill>
            <a:srgbClr val="17A6A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781031" y="2249424"/>
            <a:ext cx="731520" cy="731520"/>
          </a:xfrm>
          <a:prstGeom prst="ellipse">
            <a:avLst/>
          </a:prstGeom>
          <a:solidFill>
            <a:srgbClr val="17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ev_coin_1224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4651" y="2403043"/>
            <a:ext cx="424281" cy="424281"/>
          </a:xfrm>
          <a:prstGeom prst="rect">
            <a:avLst/>
          </a:prstGeom>
        </p:spPr>
      </p:pic>
      <p:sp>
        <p:nvSpPr>
          <p:cNvPr id="31" name="ccname"/>
          <p:cNvSpPr txBox="1"/>
          <p:nvPr/>
        </p:nvSpPr>
        <p:spPr>
          <a:xfrm>
            <a:off x="8997695" y="3035808"/>
            <a:ext cx="2298191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Hansuli &amp; Guloband</a:t>
            </a:r>
          </a:p>
        </p:txBody>
      </p:sp>
      <p:sp>
        <p:nvSpPr>
          <p:cNvPr id="32" name="ccdesc"/>
          <p:cNvSpPr txBox="1"/>
          <p:nvPr/>
        </p:nvSpPr>
        <p:spPr>
          <a:xfrm>
            <a:off x="9070847" y="3547872"/>
            <a:ext cx="2151887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A silver neck-torque and a red-velvet choker — mountain heirlooms.</a:t>
            </a:r>
          </a:p>
        </p:txBody>
      </p:sp>
      <p:sp>
        <p:nvSpPr>
          <p:cNvPr id="33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34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Traditional Attire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54" dur="1200" decel="7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4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66" dur="1300" decel="7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4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78" dur="1300" decel="7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4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90" dur="1300" decel="7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4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2" dur="1300" decel="7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D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8" y="672084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eyebrow"/>
          <p:cNvSpPr txBox="1"/>
          <p:nvPr/>
        </p:nvSpPr>
        <p:spPr>
          <a:xfrm>
            <a:off x="1078992" y="603504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EE7B1E"/>
                </a:solidFill>
                <a:latin typeface="Montserrat"/>
              </a:rPr>
              <a:t>Living Culture  ·  Flavours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822960" y="969264"/>
            <a:ext cx="10546079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400" b="0" i="0">
                <a:solidFill>
                  <a:srgbClr val="0A3B2C"/>
                </a:solidFill>
                <a:latin typeface="Playfair Display"/>
              </a:rPr>
              <a:t>Flavours of the hills</a:t>
            </a:r>
          </a:p>
        </p:txBody>
      </p:sp>
      <p:sp>
        <p:nvSpPr>
          <p:cNvPr id="9" name="cc"/>
          <p:cNvSpPr/>
          <p:nvPr/>
        </p:nvSpPr>
        <p:spPr>
          <a:xfrm>
            <a:off x="822960" y="1993392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cbar"/>
          <p:cNvSpPr/>
          <p:nvPr/>
        </p:nvSpPr>
        <p:spPr>
          <a:xfrm>
            <a:off x="822960" y="1993392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E23A2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143983" y="2249424"/>
            <a:ext cx="702624" cy="702624"/>
          </a:xfrm>
          <a:prstGeom prst="ellipse">
            <a:avLst/>
          </a:prstGeom>
          <a:solidFill>
            <a:srgbClr val="E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ev_thali_1224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1534" y="2396975"/>
            <a:ext cx="407522" cy="407522"/>
          </a:xfrm>
          <a:prstGeom prst="rect">
            <a:avLst/>
          </a:prstGeom>
        </p:spPr>
      </p:pic>
      <p:sp>
        <p:nvSpPr>
          <p:cNvPr id="13" name="ccname"/>
          <p:cNvSpPr txBox="1"/>
          <p:nvPr/>
        </p:nvSpPr>
        <p:spPr>
          <a:xfrm>
            <a:off x="896112" y="3006912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Aloo ke Gutke</a:t>
            </a:r>
          </a:p>
        </p:txBody>
      </p:sp>
      <p:sp>
        <p:nvSpPr>
          <p:cNvPr id="14" name="ccdesc"/>
          <p:cNvSpPr txBox="1"/>
          <p:nvPr/>
        </p:nvSpPr>
        <p:spPr>
          <a:xfrm>
            <a:off x="969264" y="3518976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Spiced mountain potatoes with wild jakhiya seed.</a:t>
            </a:r>
          </a:p>
        </p:txBody>
      </p:sp>
      <p:sp>
        <p:nvSpPr>
          <p:cNvPr id="15" name="cc"/>
          <p:cNvSpPr/>
          <p:nvPr/>
        </p:nvSpPr>
        <p:spPr>
          <a:xfrm>
            <a:off x="4423663" y="1993392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cbar"/>
          <p:cNvSpPr/>
          <p:nvPr/>
        </p:nvSpPr>
        <p:spPr>
          <a:xfrm>
            <a:off x="4423663" y="1993392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17A6A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744687" y="2249424"/>
            <a:ext cx="702624" cy="702624"/>
          </a:xfrm>
          <a:prstGeom prst="ellipse">
            <a:avLst/>
          </a:prstGeom>
          <a:solidFill>
            <a:srgbClr val="17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ev_leaf_1224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2238" y="2396975"/>
            <a:ext cx="407522" cy="407522"/>
          </a:xfrm>
          <a:prstGeom prst="rect">
            <a:avLst/>
          </a:prstGeom>
        </p:spPr>
      </p:pic>
      <p:sp>
        <p:nvSpPr>
          <p:cNvPr id="19" name="ccname"/>
          <p:cNvSpPr txBox="1"/>
          <p:nvPr/>
        </p:nvSpPr>
        <p:spPr>
          <a:xfrm>
            <a:off x="4496815" y="3006912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Kafuli</a:t>
            </a:r>
          </a:p>
        </p:txBody>
      </p:sp>
      <p:sp>
        <p:nvSpPr>
          <p:cNvPr id="20" name="ccdesc"/>
          <p:cNvSpPr txBox="1"/>
          <p:nvPr/>
        </p:nvSpPr>
        <p:spPr>
          <a:xfrm>
            <a:off x="4569967" y="3518976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A creamy green curry of spinach and fenugreek.</a:t>
            </a:r>
          </a:p>
        </p:txBody>
      </p:sp>
      <p:sp>
        <p:nvSpPr>
          <p:cNvPr id="21" name="cc"/>
          <p:cNvSpPr/>
          <p:nvPr/>
        </p:nvSpPr>
        <p:spPr>
          <a:xfrm>
            <a:off x="8024367" y="1993392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EE7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ccbar"/>
          <p:cNvSpPr/>
          <p:nvPr/>
        </p:nvSpPr>
        <p:spPr>
          <a:xfrm>
            <a:off x="8024367" y="1993392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EE7B1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345391" y="2249424"/>
            <a:ext cx="702624" cy="702624"/>
          </a:xfrm>
          <a:prstGeom prst="ellipse">
            <a:avLst/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ev_millet_1224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2942" y="2396975"/>
            <a:ext cx="407522" cy="407522"/>
          </a:xfrm>
          <a:prstGeom prst="rect">
            <a:avLst/>
          </a:prstGeom>
        </p:spPr>
      </p:pic>
      <p:sp>
        <p:nvSpPr>
          <p:cNvPr id="25" name="ccname"/>
          <p:cNvSpPr txBox="1"/>
          <p:nvPr/>
        </p:nvSpPr>
        <p:spPr>
          <a:xfrm>
            <a:off x="8097519" y="3006912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Mandua Roti</a:t>
            </a:r>
          </a:p>
        </p:txBody>
      </p:sp>
      <p:sp>
        <p:nvSpPr>
          <p:cNvPr id="26" name="ccdesc"/>
          <p:cNvSpPr txBox="1"/>
          <p:nvPr/>
        </p:nvSpPr>
        <p:spPr>
          <a:xfrm>
            <a:off x="8170671" y="3518976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Soft finger-millet bread — the hill staple.</a:t>
            </a:r>
          </a:p>
        </p:txBody>
      </p:sp>
      <p:sp>
        <p:nvSpPr>
          <p:cNvPr id="27" name="cc"/>
          <p:cNvSpPr/>
          <p:nvPr/>
        </p:nvSpPr>
        <p:spPr>
          <a:xfrm>
            <a:off x="822960" y="4315968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D81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ccbar"/>
          <p:cNvSpPr/>
          <p:nvPr/>
        </p:nvSpPr>
        <p:spPr>
          <a:xfrm>
            <a:off x="822960" y="4315968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D81E6A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143983" y="4572000"/>
            <a:ext cx="702624" cy="702624"/>
          </a:xfrm>
          <a:prstGeom prst="ellipse">
            <a:avLst/>
          </a:prstGeom>
          <a:solidFill>
            <a:srgbClr val="D81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ev_sweet_1224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91534" y="4719551"/>
            <a:ext cx="407522" cy="407522"/>
          </a:xfrm>
          <a:prstGeom prst="rect">
            <a:avLst/>
          </a:prstGeom>
        </p:spPr>
      </p:pic>
      <p:sp>
        <p:nvSpPr>
          <p:cNvPr id="31" name="ccname"/>
          <p:cNvSpPr txBox="1"/>
          <p:nvPr/>
        </p:nvSpPr>
        <p:spPr>
          <a:xfrm>
            <a:off x="896112" y="5329488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Bal Mithai</a:t>
            </a:r>
          </a:p>
        </p:txBody>
      </p:sp>
      <p:sp>
        <p:nvSpPr>
          <p:cNvPr id="32" name="ccdesc"/>
          <p:cNvSpPr txBox="1"/>
          <p:nvPr/>
        </p:nvSpPr>
        <p:spPr>
          <a:xfrm>
            <a:off x="969264" y="5841552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Almora’s chocolate-brown fudge with sugar pearls.</a:t>
            </a:r>
          </a:p>
        </p:txBody>
      </p:sp>
      <p:sp>
        <p:nvSpPr>
          <p:cNvPr id="33" name="cc"/>
          <p:cNvSpPr/>
          <p:nvPr/>
        </p:nvSpPr>
        <p:spPr>
          <a:xfrm>
            <a:off x="4423663" y="4315968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1E6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cbar"/>
          <p:cNvSpPr/>
          <p:nvPr/>
        </p:nvSpPr>
        <p:spPr>
          <a:xfrm>
            <a:off x="4423663" y="4315968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1E63B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744687" y="4572000"/>
            <a:ext cx="702624" cy="702624"/>
          </a:xfrm>
          <a:prstGeom prst="ellipse">
            <a:avLst/>
          </a:prstGeom>
          <a:solidFill>
            <a:srgbClr val="1E6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ev_pot_1224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2238" y="4719551"/>
            <a:ext cx="407522" cy="407522"/>
          </a:xfrm>
          <a:prstGeom prst="rect">
            <a:avLst/>
          </a:prstGeom>
        </p:spPr>
      </p:pic>
      <p:sp>
        <p:nvSpPr>
          <p:cNvPr id="37" name="ccname"/>
          <p:cNvSpPr txBox="1"/>
          <p:nvPr/>
        </p:nvSpPr>
        <p:spPr>
          <a:xfrm>
            <a:off x="4496815" y="5329488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Bhatt · Chainsoo</a:t>
            </a:r>
          </a:p>
        </p:txBody>
      </p:sp>
      <p:sp>
        <p:nvSpPr>
          <p:cNvPr id="38" name="ccdesc"/>
          <p:cNvSpPr txBox="1"/>
          <p:nvPr/>
        </p:nvSpPr>
        <p:spPr>
          <a:xfrm>
            <a:off x="4569967" y="5841552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Hearty roasted-lentil dals, full of protein.</a:t>
            </a:r>
          </a:p>
        </p:txBody>
      </p:sp>
      <p:sp>
        <p:nvSpPr>
          <p:cNvPr id="39" name="cc"/>
          <p:cNvSpPr/>
          <p:nvPr/>
        </p:nvSpPr>
        <p:spPr>
          <a:xfrm>
            <a:off x="8024367" y="4315968"/>
            <a:ext cx="3344671" cy="2066544"/>
          </a:xfrm>
          <a:prstGeom prst="roundRect">
            <a:avLst>
              <a:gd name="adj" fmla="val 6000"/>
            </a:avLst>
          </a:prstGeom>
          <a:solidFill>
            <a:srgbClr val="0A3B2C">
              <a:alpha val="100000"/>
            </a:srgbClr>
          </a:solidFill>
          <a:ln w="20320">
            <a:solidFill>
              <a:srgbClr val="7A3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ccbar"/>
          <p:cNvSpPr/>
          <p:nvPr/>
        </p:nvSpPr>
        <p:spPr>
          <a:xfrm>
            <a:off x="8024367" y="4315968"/>
            <a:ext cx="3344671" cy="109728"/>
          </a:xfrm>
          <a:prstGeom prst="roundRect">
            <a:avLst>
              <a:gd name="adj" fmla="val 50000"/>
            </a:avLst>
          </a:prstGeom>
          <a:solidFill>
            <a:srgbClr val="7A3FB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9345391" y="4572000"/>
            <a:ext cx="702624" cy="702624"/>
          </a:xfrm>
          <a:prstGeom prst="ellipse">
            <a:avLst/>
          </a:prstGeom>
          <a:solidFill>
            <a:srgbClr val="7A3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ev_chilli_12241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92942" y="4719551"/>
            <a:ext cx="407522" cy="407522"/>
          </a:xfrm>
          <a:prstGeom prst="rect">
            <a:avLst/>
          </a:prstGeom>
        </p:spPr>
      </p:pic>
      <p:sp>
        <p:nvSpPr>
          <p:cNvPr id="43" name="ccname"/>
          <p:cNvSpPr txBox="1"/>
          <p:nvPr/>
        </p:nvSpPr>
        <p:spPr>
          <a:xfrm>
            <a:off x="8097519" y="5329488"/>
            <a:ext cx="3198367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DF7"/>
                </a:solidFill>
                <a:latin typeface="Playfair Display"/>
              </a:rPr>
              <a:t>Bhang ki Chutney</a:t>
            </a:r>
          </a:p>
        </p:txBody>
      </p:sp>
      <p:sp>
        <p:nvSpPr>
          <p:cNvPr id="44" name="ccdesc"/>
          <p:cNvSpPr txBox="1"/>
          <p:nvPr/>
        </p:nvSpPr>
        <p:spPr>
          <a:xfrm>
            <a:off x="8170671" y="5841552"/>
            <a:ext cx="3052063" cy="4495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F2CE7B"/>
                </a:solidFill>
                <a:latin typeface="Poppins"/>
              </a:rPr>
              <a:t>A tangy roasted hemp-seed chutney of the hills.</a:t>
            </a:r>
          </a:p>
        </p:txBody>
      </p:sp>
      <p:sp>
        <p:nvSpPr>
          <p:cNvPr id="45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46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Cuisine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54" dur="1200" decel="7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4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66" dur="1300" decel="7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4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78" dur="1300" decel="7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4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90" dur="1300" decel="7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4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2" dur="1300" decel="7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4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1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14" dur="1300" decel="7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9" presetID="42" presetClass="entr" presetSubtype="4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1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26" dur="1300" decel="7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8" y="672084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eyebrow"/>
          <p:cNvSpPr txBox="1"/>
          <p:nvPr/>
        </p:nvSpPr>
        <p:spPr>
          <a:xfrm>
            <a:off x="1078992" y="603504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Living Culture  ·  Made By Hand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822960" y="969264"/>
            <a:ext cx="10546079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3400" b="0" i="0">
                <a:solidFill>
                  <a:srgbClr val="FFFDF7"/>
                </a:solidFill>
                <a:latin typeface="Playfair Display"/>
              </a:rPr>
              <a:t>Handmade heritage of Uttarakhand</a:t>
            </a:r>
          </a:p>
        </p:txBody>
      </p:sp>
      <p:sp>
        <p:nvSpPr>
          <p:cNvPr id="9" name="cc"/>
          <p:cNvSpPr/>
          <p:nvPr/>
        </p:nvSpPr>
        <p:spPr>
          <a:xfrm>
            <a:off x="822960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cbar"/>
          <p:cNvSpPr/>
          <p:nvPr/>
        </p:nvSpPr>
        <p:spPr>
          <a:xfrm>
            <a:off x="822960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E23A2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409395" y="2249424"/>
            <a:ext cx="731520" cy="731520"/>
          </a:xfrm>
          <a:prstGeom prst="ellipse">
            <a:avLst/>
          </a:prstGeom>
          <a:solidFill>
            <a:srgbClr val="E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ev_aipan_1224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014" y="2403043"/>
            <a:ext cx="424281" cy="424281"/>
          </a:xfrm>
          <a:prstGeom prst="rect">
            <a:avLst/>
          </a:prstGeom>
        </p:spPr>
      </p:pic>
      <p:sp>
        <p:nvSpPr>
          <p:cNvPr id="13" name="ccname"/>
          <p:cNvSpPr txBox="1"/>
          <p:nvPr/>
        </p:nvSpPr>
        <p:spPr>
          <a:xfrm>
            <a:off x="896112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Aipan</a:t>
            </a:r>
          </a:p>
        </p:txBody>
      </p:sp>
      <p:sp>
        <p:nvSpPr>
          <p:cNvPr id="14" name="ccdesc"/>
          <p:cNvSpPr txBox="1"/>
          <p:nvPr/>
        </p:nvSpPr>
        <p:spPr>
          <a:xfrm>
            <a:off x="969264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White rice-paste patterns on red earth, drawn by women for every blessing.</a:t>
            </a:r>
          </a:p>
        </p:txBody>
      </p:sp>
      <p:sp>
        <p:nvSpPr>
          <p:cNvPr id="15" name="cc"/>
          <p:cNvSpPr/>
          <p:nvPr/>
        </p:nvSpPr>
        <p:spPr>
          <a:xfrm>
            <a:off x="2983382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cbar"/>
          <p:cNvSpPr/>
          <p:nvPr/>
        </p:nvSpPr>
        <p:spPr>
          <a:xfrm>
            <a:off x="2983382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F5A81C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3569817" y="2249424"/>
            <a:ext cx="731520" cy="731520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ev_ringal_1224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3436" y="2403043"/>
            <a:ext cx="424281" cy="424281"/>
          </a:xfrm>
          <a:prstGeom prst="rect">
            <a:avLst/>
          </a:prstGeom>
        </p:spPr>
      </p:pic>
      <p:sp>
        <p:nvSpPr>
          <p:cNvPr id="19" name="ccname"/>
          <p:cNvSpPr txBox="1"/>
          <p:nvPr/>
        </p:nvSpPr>
        <p:spPr>
          <a:xfrm>
            <a:off x="3056534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Ringaal</a:t>
            </a:r>
          </a:p>
        </p:txBody>
      </p:sp>
      <p:sp>
        <p:nvSpPr>
          <p:cNvPr id="20" name="ccdesc"/>
          <p:cNvSpPr txBox="1"/>
          <p:nvPr/>
        </p:nvSpPr>
        <p:spPr>
          <a:xfrm>
            <a:off x="3129686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Hill bamboo woven into baskets, mats and rings.</a:t>
            </a:r>
          </a:p>
        </p:txBody>
      </p:sp>
      <p:sp>
        <p:nvSpPr>
          <p:cNvPr id="21" name="cc"/>
          <p:cNvSpPr/>
          <p:nvPr/>
        </p:nvSpPr>
        <p:spPr>
          <a:xfrm>
            <a:off x="5143804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EE7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ccbar"/>
          <p:cNvSpPr/>
          <p:nvPr/>
        </p:nvSpPr>
        <p:spPr>
          <a:xfrm>
            <a:off x="5143804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EE7B1E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5730239" y="2249424"/>
            <a:ext cx="731520" cy="731520"/>
          </a:xfrm>
          <a:prstGeom prst="ellipse">
            <a:avLst/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ev_copper_1224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3859" y="2403043"/>
            <a:ext cx="424281" cy="424281"/>
          </a:xfrm>
          <a:prstGeom prst="rect">
            <a:avLst/>
          </a:prstGeom>
        </p:spPr>
      </p:pic>
      <p:sp>
        <p:nvSpPr>
          <p:cNvPr id="25" name="ccname"/>
          <p:cNvSpPr txBox="1"/>
          <p:nvPr/>
        </p:nvSpPr>
        <p:spPr>
          <a:xfrm>
            <a:off x="5216956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Tamta Copper</a:t>
            </a:r>
          </a:p>
        </p:txBody>
      </p:sp>
      <p:sp>
        <p:nvSpPr>
          <p:cNvPr id="26" name="ccdesc"/>
          <p:cNvSpPr txBox="1"/>
          <p:nvPr/>
        </p:nvSpPr>
        <p:spPr>
          <a:xfrm>
            <a:off x="5290108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Almora’s coppersmiths beat gleaming pots and temple bells by hand.</a:t>
            </a:r>
          </a:p>
        </p:txBody>
      </p:sp>
      <p:sp>
        <p:nvSpPr>
          <p:cNvPr id="27" name="cc"/>
          <p:cNvSpPr/>
          <p:nvPr/>
        </p:nvSpPr>
        <p:spPr>
          <a:xfrm>
            <a:off x="7304227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ccbar"/>
          <p:cNvSpPr/>
          <p:nvPr/>
        </p:nvSpPr>
        <p:spPr>
          <a:xfrm>
            <a:off x="7304227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17A6A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890662" y="2249424"/>
            <a:ext cx="731520" cy="731520"/>
          </a:xfrm>
          <a:prstGeom prst="ellipse">
            <a:avLst/>
          </a:prstGeom>
          <a:solidFill>
            <a:srgbClr val="17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ev_chisel_1224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4281" y="2403043"/>
            <a:ext cx="424281" cy="424281"/>
          </a:xfrm>
          <a:prstGeom prst="rect">
            <a:avLst/>
          </a:prstGeom>
        </p:spPr>
      </p:pic>
      <p:sp>
        <p:nvSpPr>
          <p:cNvPr id="31" name="ccname"/>
          <p:cNvSpPr txBox="1"/>
          <p:nvPr/>
        </p:nvSpPr>
        <p:spPr>
          <a:xfrm>
            <a:off x="7377379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Woodcarving</a:t>
            </a:r>
          </a:p>
        </p:txBody>
      </p:sp>
      <p:sp>
        <p:nvSpPr>
          <p:cNvPr id="32" name="ccdesc"/>
          <p:cNvSpPr txBox="1"/>
          <p:nvPr/>
        </p:nvSpPr>
        <p:spPr>
          <a:xfrm>
            <a:off x="7450531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Ornate carved doorways — kholi — frame the old hill homes.</a:t>
            </a:r>
          </a:p>
        </p:txBody>
      </p:sp>
      <p:sp>
        <p:nvSpPr>
          <p:cNvPr id="33" name="cc"/>
          <p:cNvSpPr/>
          <p:nvPr/>
        </p:nvSpPr>
        <p:spPr>
          <a:xfrm>
            <a:off x="9464649" y="1993392"/>
            <a:ext cx="1904390" cy="2514600"/>
          </a:xfrm>
          <a:prstGeom prst="roundRect">
            <a:avLst>
              <a:gd name="adj" fmla="val 6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D81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cbar"/>
          <p:cNvSpPr/>
          <p:nvPr/>
        </p:nvSpPr>
        <p:spPr>
          <a:xfrm>
            <a:off x="9464649" y="1993392"/>
            <a:ext cx="1904390" cy="109728"/>
          </a:xfrm>
          <a:prstGeom prst="roundRect">
            <a:avLst>
              <a:gd name="adj" fmla="val 50000"/>
            </a:avLst>
          </a:prstGeom>
          <a:solidFill>
            <a:srgbClr val="D81E6A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0051084" y="2249424"/>
            <a:ext cx="731520" cy="731520"/>
          </a:xfrm>
          <a:prstGeom prst="ellipse">
            <a:avLst/>
          </a:prstGeom>
          <a:solidFill>
            <a:srgbClr val="D81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ev_loom_1224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04703" y="2403043"/>
            <a:ext cx="424281" cy="424281"/>
          </a:xfrm>
          <a:prstGeom prst="rect">
            <a:avLst/>
          </a:prstGeom>
        </p:spPr>
      </p:pic>
      <p:sp>
        <p:nvSpPr>
          <p:cNvPr id="37" name="ccname"/>
          <p:cNvSpPr txBox="1"/>
          <p:nvPr/>
        </p:nvSpPr>
        <p:spPr>
          <a:xfrm>
            <a:off x="9537801" y="3035808"/>
            <a:ext cx="1758086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A3B2C"/>
                </a:solidFill>
                <a:latin typeface="Playfair Display"/>
              </a:rPr>
              <a:t>Wool Weaving</a:t>
            </a:r>
          </a:p>
        </p:txBody>
      </p:sp>
      <p:sp>
        <p:nvSpPr>
          <p:cNvPr id="38" name="ccdesc"/>
          <p:cNvSpPr txBox="1"/>
          <p:nvPr/>
        </p:nvSpPr>
        <p:spPr>
          <a:xfrm>
            <a:off x="9610953" y="3547872"/>
            <a:ext cx="1611782" cy="8686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3A4A42"/>
                </a:solidFill>
                <a:latin typeface="Poppins"/>
              </a:rPr>
              <a:t>Warm carpets, blankets and shawls spun from mountain wool.</a:t>
            </a:r>
          </a:p>
        </p:txBody>
      </p:sp>
      <p:sp>
        <p:nvSpPr>
          <p:cNvPr id="39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40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Handicrafts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54" dur="1200" decel="7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4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66" dur="1300" decel="7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4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78" dur="1300" decel="7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4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90" dur="1300" decel="7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4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2" dur="1300" decel="7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4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1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14" dur="1300" decel="7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D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cool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sp>
        <p:nvSpPr>
          <p:cNvPr id="4" name="confetti"/>
          <p:cNvSpPr/>
          <p:nvPr/>
        </p:nvSpPr>
        <p:spPr>
          <a:xfrm>
            <a:off x="731519" y="1097280"/>
            <a:ext cx="99563" cy="99563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onfetti"/>
          <p:cNvSpPr/>
          <p:nvPr/>
        </p:nvSpPr>
        <p:spPr>
          <a:xfrm>
            <a:off x="1950719" y="5486400"/>
            <a:ext cx="88887" cy="88887"/>
          </a:xfrm>
          <a:prstGeom prst="ellipse">
            <a:avLst/>
          </a:prstGeom>
          <a:solidFill>
            <a:srgbClr val="E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onfetti"/>
          <p:cNvSpPr/>
          <p:nvPr/>
        </p:nvSpPr>
        <p:spPr>
          <a:xfrm>
            <a:off x="10972799" y="1371600"/>
            <a:ext cx="140850" cy="140850"/>
          </a:xfrm>
          <a:prstGeom prst="ellipse">
            <a:avLst/>
          </a:prstGeom>
          <a:solidFill>
            <a:srgbClr val="17A6A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onfetti"/>
          <p:cNvSpPr/>
          <p:nvPr/>
        </p:nvSpPr>
        <p:spPr>
          <a:xfrm>
            <a:off x="10363199" y="4800600"/>
            <a:ext cx="108648" cy="108648"/>
          </a:xfrm>
          <a:prstGeom prst="ellipse">
            <a:avLst/>
          </a:prstGeom>
          <a:solidFill>
            <a:srgbClr val="EE7B1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nfetti"/>
          <p:cNvSpPr/>
          <p:nvPr/>
        </p:nvSpPr>
        <p:spPr>
          <a:xfrm>
            <a:off x="6095999" y="548640"/>
            <a:ext cx="97979" cy="97979"/>
          </a:xfrm>
          <a:prstGeom prst="ellipse">
            <a:avLst/>
          </a:prstGeom>
          <a:solidFill>
            <a:srgbClr val="D81E6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nfetti"/>
          <p:cNvSpPr/>
          <p:nvPr/>
        </p:nvSpPr>
        <p:spPr>
          <a:xfrm>
            <a:off x="3413759" y="6172200"/>
            <a:ext cx="101334" cy="101334"/>
          </a:xfrm>
          <a:prstGeom prst="ellipse">
            <a:avLst/>
          </a:prstGeom>
          <a:solidFill>
            <a:srgbClr val="1E63B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onfetti"/>
          <p:cNvSpPr/>
          <p:nvPr/>
        </p:nvSpPr>
        <p:spPr>
          <a:xfrm>
            <a:off x="8778239" y="6172200"/>
            <a:ext cx="128160" cy="128160"/>
          </a:xfrm>
          <a:prstGeom prst="ellipse">
            <a:avLst/>
          </a:prstGeom>
          <a:solidFill>
            <a:srgbClr val="7A3FB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nfetti"/>
          <p:cNvSpPr/>
          <p:nvPr/>
        </p:nvSpPr>
        <p:spPr>
          <a:xfrm>
            <a:off x="11582399" y="3086100"/>
            <a:ext cx="88639" cy="88639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18388" y="800100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eyebrow"/>
          <p:cNvSpPr txBox="1"/>
          <p:nvPr/>
        </p:nvSpPr>
        <p:spPr>
          <a:xfrm>
            <a:off x="1078992" y="731520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EE7B1E"/>
                </a:solidFill>
                <a:latin typeface="Montserrat"/>
              </a:rPr>
              <a:t>For Every Participant</a:t>
            </a:r>
          </a:p>
        </p:txBody>
      </p:sp>
      <p:sp>
        <p:nvSpPr>
          <p:cNvPr id="14" name="title"/>
          <p:cNvSpPr txBox="1"/>
          <p:nvPr/>
        </p:nvSpPr>
        <p:spPr>
          <a:xfrm>
            <a:off x="822960" y="1097280"/>
            <a:ext cx="10546079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4000" b="0" i="0">
                <a:solidFill>
                  <a:srgbClr val="0A3B2C"/>
                </a:solidFill>
                <a:latin typeface="Playfair Display"/>
              </a:rPr>
              <a:t>What will this event offer you?</a:t>
            </a:r>
          </a:p>
        </p:txBody>
      </p:sp>
      <p:sp>
        <p:nvSpPr>
          <p:cNvPr id="15" name="lead"/>
          <p:cNvSpPr txBox="1"/>
          <p:nvPr/>
        </p:nvSpPr>
        <p:spPr>
          <a:xfrm>
            <a:off x="822960" y="1938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500" b="0" i="0">
                <a:solidFill>
                  <a:srgbClr val="EE7B1E"/>
                </a:solidFill>
                <a:latin typeface="Poppins"/>
              </a:rPr>
              <a:t>A chance to grow — culturally, creatively and personally:</a:t>
            </a:r>
          </a:p>
        </p:txBody>
      </p:sp>
      <p:sp>
        <p:nvSpPr>
          <p:cNvPr id="16" name="ocard"/>
          <p:cNvSpPr/>
          <p:nvPr/>
        </p:nvSpPr>
        <p:spPr>
          <a:xfrm>
            <a:off x="822960" y="2606040"/>
            <a:ext cx="5090159" cy="950976"/>
          </a:xfrm>
          <a:prstGeom prst="roundRect">
            <a:avLst>
              <a:gd name="adj" fmla="val 9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069848" y="2779776"/>
            <a:ext cx="603504" cy="603504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ev_book_1224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583" y="2906511"/>
            <a:ext cx="350032" cy="350032"/>
          </a:xfrm>
          <a:prstGeom prst="rect">
            <a:avLst/>
          </a:prstGeom>
        </p:spPr>
      </p:pic>
      <p:sp>
        <p:nvSpPr>
          <p:cNvPr id="19" name="ot"/>
          <p:cNvSpPr txBox="1"/>
          <p:nvPr/>
        </p:nvSpPr>
        <p:spPr>
          <a:xfrm>
            <a:off x="1783080" y="2606040"/>
            <a:ext cx="3947159" cy="9509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114000"/>
              </a:lnSpc>
            </a:pPr>
            <a:r>
              <a:rPr sz="1500" b="0" i="0">
                <a:solidFill>
                  <a:srgbClr val="0A3B2C"/>
                </a:solidFill>
                <a:latin typeface="Poppins"/>
              </a:rPr>
              <a:t>Learn about Uttarakhand’s rich culture</a:t>
            </a:r>
          </a:p>
        </p:txBody>
      </p:sp>
      <p:sp>
        <p:nvSpPr>
          <p:cNvPr id="20" name="ocard"/>
          <p:cNvSpPr/>
          <p:nvPr/>
        </p:nvSpPr>
        <p:spPr>
          <a:xfrm>
            <a:off x="6278879" y="2606040"/>
            <a:ext cx="5090159" cy="950976"/>
          </a:xfrm>
          <a:prstGeom prst="roundRect">
            <a:avLst>
              <a:gd name="adj" fmla="val 9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525767" y="2779776"/>
            <a:ext cx="603504" cy="603504"/>
          </a:xfrm>
          <a:prstGeom prst="ellipse">
            <a:avLst/>
          </a:prstGeom>
          <a:solidFill>
            <a:srgbClr val="E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ev_hands_1224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503" y="2906511"/>
            <a:ext cx="350032" cy="350032"/>
          </a:xfrm>
          <a:prstGeom prst="rect">
            <a:avLst/>
          </a:prstGeom>
        </p:spPr>
      </p:pic>
      <p:sp>
        <p:nvSpPr>
          <p:cNvPr id="23" name="ot"/>
          <p:cNvSpPr txBox="1"/>
          <p:nvPr/>
        </p:nvSpPr>
        <p:spPr>
          <a:xfrm>
            <a:off x="7238999" y="2606040"/>
            <a:ext cx="3947159" cy="9509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114000"/>
              </a:lnSpc>
            </a:pPr>
            <a:r>
              <a:rPr sz="1500" b="0" i="0">
                <a:solidFill>
                  <a:srgbClr val="0A3B2C"/>
                </a:solidFill>
                <a:latin typeface="Poppins"/>
              </a:rPr>
              <a:t>Develop creative and performance skills</a:t>
            </a:r>
          </a:p>
        </p:txBody>
      </p:sp>
      <p:sp>
        <p:nvSpPr>
          <p:cNvPr id="24" name="ocard"/>
          <p:cNvSpPr/>
          <p:nvPr/>
        </p:nvSpPr>
        <p:spPr>
          <a:xfrm>
            <a:off x="822960" y="3739896"/>
            <a:ext cx="5090159" cy="950976"/>
          </a:xfrm>
          <a:prstGeom prst="roundRect">
            <a:avLst>
              <a:gd name="adj" fmla="val 9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069848" y="3913631"/>
            <a:ext cx="603504" cy="603504"/>
          </a:xfrm>
          <a:prstGeom prst="ellipse">
            <a:avLst/>
          </a:prstGeom>
          <a:solidFill>
            <a:srgbClr val="17A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ev_dhol_1224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6583" y="4040367"/>
            <a:ext cx="350032" cy="350032"/>
          </a:xfrm>
          <a:prstGeom prst="rect">
            <a:avLst/>
          </a:prstGeom>
        </p:spPr>
      </p:pic>
      <p:sp>
        <p:nvSpPr>
          <p:cNvPr id="27" name="ot"/>
          <p:cNvSpPr txBox="1"/>
          <p:nvPr/>
        </p:nvSpPr>
        <p:spPr>
          <a:xfrm>
            <a:off x="1783080" y="3739896"/>
            <a:ext cx="3947159" cy="9509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114000"/>
              </a:lnSpc>
            </a:pPr>
            <a:r>
              <a:rPr sz="1500" b="0" i="0">
                <a:solidFill>
                  <a:srgbClr val="0A3B2C"/>
                </a:solidFill>
                <a:latin typeface="Poppins"/>
              </a:rPr>
              <a:t>Experience traditional music and dance</a:t>
            </a:r>
          </a:p>
        </p:txBody>
      </p:sp>
      <p:sp>
        <p:nvSpPr>
          <p:cNvPr id="28" name="ocard"/>
          <p:cNvSpPr/>
          <p:nvPr/>
        </p:nvSpPr>
        <p:spPr>
          <a:xfrm>
            <a:off x="6278879" y="3739896"/>
            <a:ext cx="5090159" cy="950976"/>
          </a:xfrm>
          <a:prstGeom prst="roundRect">
            <a:avLst>
              <a:gd name="adj" fmla="val 9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EE7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525767" y="3913631"/>
            <a:ext cx="603504" cy="603504"/>
          </a:xfrm>
          <a:prstGeom prst="ellipse">
            <a:avLst/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ev_sunrise_1224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2503" y="4040367"/>
            <a:ext cx="350032" cy="350032"/>
          </a:xfrm>
          <a:prstGeom prst="rect">
            <a:avLst/>
          </a:prstGeom>
        </p:spPr>
      </p:pic>
      <p:sp>
        <p:nvSpPr>
          <p:cNvPr id="31" name="ot"/>
          <p:cNvSpPr txBox="1"/>
          <p:nvPr/>
        </p:nvSpPr>
        <p:spPr>
          <a:xfrm>
            <a:off x="7238999" y="3739896"/>
            <a:ext cx="3947159" cy="9509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114000"/>
              </a:lnSpc>
            </a:pPr>
            <a:r>
              <a:rPr sz="1500" b="0" i="0">
                <a:solidFill>
                  <a:srgbClr val="0A3B2C"/>
                </a:solidFill>
                <a:latin typeface="Poppins"/>
              </a:rPr>
              <a:t>An exclusive stage to showcase your talent</a:t>
            </a:r>
          </a:p>
        </p:txBody>
      </p:sp>
      <p:sp>
        <p:nvSpPr>
          <p:cNvPr id="32" name="ocard"/>
          <p:cNvSpPr/>
          <p:nvPr/>
        </p:nvSpPr>
        <p:spPr>
          <a:xfrm>
            <a:off x="3550919" y="4873752"/>
            <a:ext cx="5090159" cy="950976"/>
          </a:xfrm>
          <a:prstGeom prst="roundRect">
            <a:avLst>
              <a:gd name="adj" fmla="val 9000"/>
            </a:avLst>
          </a:prstGeom>
          <a:solidFill>
            <a:srgbClr val="FFFDF7">
              <a:alpha val="100000"/>
            </a:srgbClr>
          </a:solidFill>
          <a:ln w="20320">
            <a:solidFill>
              <a:srgbClr val="D81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797807" y="5047488"/>
            <a:ext cx="603504" cy="603504"/>
          </a:xfrm>
          <a:prstGeom prst="ellipse">
            <a:avLst/>
          </a:prstGeom>
          <a:solidFill>
            <a:srgbClr val="D81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ev_youth_1224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4543" y="5174223"/>
            <a:ext cx="350032" cy="350032"/>
          </a:xfrm>
          <a:prstGeom prst="rect">
            <a:avLst/>
          </a:prstGeom>
        </p:spPr>
      </p:pic>
      <p:sp>
        <p:nvSpPr>
          <p:cNvPr id="35" name="ot"/>
          <p:cNvSpPr txBox="1"/>
          <p:nvPr/>
        </p:nvSpPr>
        <p:spPr>
          <a:xfrm>
            <a:off x="4511039" y="4873752"/>
            <a:ext cx="3947159" cy="9509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114000"/>
              </a:lnSpc>
            </a:pPr>
            <a:r>
              <a:rPr sz="1500" b="0" i="0">
                <a:solidFill>
                  <a:srgbClr val="0A3B2C"/>
                </a:solidFill>
                <a:latin typeface="Poppins"/>
              </a:rPr>
              <a:t>Build confidence, teamwork and cultural roots</a:t>
            </a:r>
          </a:p>
        </p:txBody>
      </p:sp>
      <p:sp>
        <p:nvSpPr>
          <p:cNvPr id="36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37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What You Gain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381 -0.00832 " pathEditMode="relative" ptsTypes="AA">
                                      <p:cBhvr additive="base">
                                        <p:cTn id="121" dur="10269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881 0.00395 " pathEditMode="relative" ptsTypes="AA">
                                      <p:cBhvr additive="base">
                                        <p:cTn id="127" dur="1137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591 -0.02225 " pathEditMode="relative" ptsTypes="AA">
                                      <p:cBhvr additive="base">
                                        <p:cTn id="133" dur="13396" autoRev="1" repeatCount="indefinite" accel="45000" decel="4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678 0.02615 " pathEditMode="relative" ptsTypes="AA">
                                      <p:cBhvr additive="base">
                                        <p:cTn id="139" dur="11144" autoRev="1" repeatCount="indefinite" accel="45000" decel="4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565 0.02631 " pathEditMode="relative" ptsTypes="AA">
                                      <p:cBhvr additive="base">
                                        <p:cTn id="145" dur="15608" autoRev="1" repeatCount="indefinite" accel="45000" decel="45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370 -0.02681 " pathEditMode="relative" ptsTypes="AA">
                                      <p:cBhvr additive="base">
                                        <p:cTn id="151" dur="11372" autoRev="1" repeatCount="indefinite" accel="45000" decel="45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391 0.02837 " pathEditMode="relative" ptsTypes="AA">
                                      <p:cBhvr additive="base">
                                        <p:cTn id="157" dur="12050" autoRev="1" repeatCount="indefinite" accel="45000" decel="45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35 0.01374 " pathEditMode="relative" ptsTypes="AA">
                                      <p:cBhvr additive="base">
                                        <p:cTn id="163" dur="13144" autoRev="1" repeatCount="indefinite" accel="45000" decel="4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1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4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1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84" dur="1200" decel="7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entr" presetSubtype="4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1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05" dur="1300" decel="7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42" presetClass="entr" presetSubtype="4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1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17" dur="1300" decel="7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42" presetClass="entr" presetSubtype="4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1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29" dur="1300" decel="7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4" presetID="42" presetClass="entr" presetSubtype="4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1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41" dur="1300" decel="7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42" presetClass="entr" presetSubtype="4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1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53" dur="1300" decel="7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4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1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65" dur="1300" decel="7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42" presetClass="entr" presetSubtype="4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1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77" dur="1300" decel="7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2" presetID="42" presetClass="entr" presetSubtype="4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1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89" dur="1300" decel="7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4" presetID="42" presetClass="entr" presetSubtype="4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1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301" dur="1300" decel="7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42" presetClass="entr" presetSubtype="4" fill="hold" grpId="0" nodeType="withEffect">
                                  <p:stCondLst>
                                    <p:cond delay="227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1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313" dur="1300" decel="7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8" y="818388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eyebrow"/>
          <p:cNvSpPr txBox="1"/>
          <p:nvPr/>
        </p:nvSpPr>
        <p:spPr>
          <a:xfrm>
            <a:off x="1078992" y="749808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Your Mentors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822960" y="1133856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4200" b="0" i="0">
                <a:solidFill>
                  <a:srgbClr val="FFFDF7"/>
                </a:solidFill>
                <a:latin typeface="Playfair Display"/>
              </a:rPr>
              <a:t>Who will guide you?</a:t>
            </a:r>
          </a:p>
        </p:txBody>
      </p:sp>
      <p:sp>
        <p:nvSpPr>
          <p:cNvPr id="9" name="body"/>
          <p:cNvSpPr txBox="1"/>
          <p:nvPr/>
        </p:nvSpPr>
        <p:spPr>
          <a:xfrm>
            <a:off x="822960" y="2286000"/>
            <a:ext cx="5120640" cy="256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700" b="0" i="0">
                <a:solidFill>
                  <a:srgbClr val="F2CE7B"/>
                </a:solidFill>
                <a:latin typeface="Poppins"/>
              </a:rPr>
              <a:t>Our teams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3200" b="0" i="0">
                <a:solidFill>
                  <a:srgbClr val="F5A81C"/>
                </a:solidFill>
                <a:latin typeface="Playfair Display"/>
              </a:rPr>
              <a:t>DevBhoomi &amp; Uttarayani</a:t>
            </a:r>
          </a:p>
          <a:p>
            <a:pPr>
              <a:lnSpc>
                <a:spcPct val="140000"/>
              </a:lnSpc>
              <a:spcBef>
                <a:spcPts val="1200"/>
              </a:spcBef>
            </a:pPr>
            <a:r>
              <a:rPr sz="1600" b="0" i="0">
                <a:solidFill>
                  <a:srgbClr val="FFFDF7"/>
                </a:solidFill>
                <a:latin typeface="Poppins"/>
              </a:rPr>
              <a:t>will guide participants and teach them about Uttarakhand’s traditional culture, folk performances, and authentic artistic presentation.</a:t>
            </a:r>
          </a:p>
        </p:txBody>
      </p:sp>
      <p:sp>
        <p:nvSpPr>
          <p:cNvPr id="10" name="photo"/>
          <p:cNvSpPr/>
          <p:nvPr/>
        </p:nvSpPr>
        <p:spPr>
          <a:xfrm>
            <a:off x="6263640" y="1325880"/>
            <a:ext cx="2377440" cy="2697480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E2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v_dancer_E23A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5744" y="2104034"/>
            <a:ext cx="713232" cy="713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300746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E23A2E"/>
                </a:solidFill>
                <a:latin typeface="Montserrat"/>
              </a:rPr>
              <a:t>TEAM DEVBHOOMI</a:t>
            </a:r>
          </a:p>
        </p:txBody>
      </p:sp>
      <p:sp>
        <p:nvSpPr>
          <p:cNvPr id="13" name="photo"/>
          <p:cNvSpPr/>
          <p:nvPr/>
        </p:nvSpPr>
        <p:spPr>
          <a:xfrm>
            <a:off x="8887968" y="1325880"/>
            <a:ext cx="2450592" cy="2697480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17A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ev_hands_17A6A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5675" y="2086477"/>
            <a:ext cx="735177" cy="73517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87968" y="3017702"/>
            <a:ext cx="2450592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17A6A0"/>
                </a:solidFill>
                <a:latin typeface="Montserrat"/>
              </a:rPr>
              <a:t>TEAM UTTARAYANI</a:t>
            </a:r>
          </a:p>
        </p:txBody>
      </p:sp>
      <p:sp>
        <p:nvSpPr>
          <p:cNvPr id="16" name="photo"/>
          <p:cNvSpPr/>
          <p:nvPr/>
        </p:nvSpPr>
        <p:spPr>
          <a:xfrm>
            <a:off x="6263640" y="4206240"/>
            <a:ext cx="5074920" cy="1920240"/>
          </a:xfrm>
          <a:prstGeom prst="roundRect">
            <a:avLst>
              <a:gd name="adj" fmla="val 5000"/>
            </a:avLst>
          </a:prstGeom>
          <a:solidFill>
            <a:srgbClr val="1C7A54">
              <a:alpha val="32000"/>
            </a:srgbClr>
          </a:solidFill>
          <a:ln w="33020">
            <a:solidFill>
              <a:srgbClr val="F5A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ev_flag_F5A8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705502"/>
            <a:ext cx="576072" cy="5760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63640" y="5435193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 spc="200" cap="all">
                <a:solidFill>
                  <a:srgbClr val="F5A81C"/>
                </a:solidFill>
                <a:latin typeface="Montserrat"/>
              </a:rPr>
              <a:t>PERFORMANCE PHOTO</a:t>
            </a:r>
          </a:p>
        </p:txBody>
      </p:sp>
      <p:sp>
        <p:nvSpPr>
          <p:cNvPr id="19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20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Your Guides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4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54" dur="1300" decel="7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4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66" dur="1300" decel="7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2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8" dur="1500" decel="65000" fill="hold"/>
                                        <p:tgtEl>
                                          <p:spTgt spid="10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93" presetID="23" presetClass="entr" presetSubtype="16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0" dur="1500" decel="650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05" presetID="23" presetClass="entr" presetSubtype="16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2" dur="1500" decel="65000" fill="hold"/>
                                        <p:tgtEl>
                                          <p:spTgt spid="1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lob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F5A81C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lob"/>
          <p:cNvSpPr/>
          <p:nvPr/>
        </p:nvSpPr>
        <p:spPr>
          <a:xfrm>
            <a:off x="9448799" y="4114800"/>
            <a:ext cx="4572000" cy="4572000"/>
          </a:xfrm>
          <a:prstGeom prst="ellipse">
            <a:avLst/>
          </a:prstGeom>
          <a:solidFill>
            <a:srgbClr val="E23A2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5" name="Picture 4" descr="fx_rays_top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6" name="Picture 5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7" name="Picture 6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8" name="confetti"/>
          <p:cNvSpPr/>
          <p:nvPr/>
        </p:nvSpPr>
        <p:spPr>
          <a:xfrm>
            <a:off x="731519" y="1097280"/>
            <a:ext cx="99563" cy="99563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nfetti"/>
          <p:cNvSpPr/>
          <p:nvPr/>
        </p:nvSpPr>
        <p:spPr>
          <a:xfrm>
            <a:off x="1950719" y="5486400"/>
            <a:ext cx="88887" cy="88887"/>
          </a:xfrm>
          <a:prstGeom prst="ellipse">
            <a:avLst/>
          </a:prstGeom>
          <a:solidFill>
            <a:srgbClr val="E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onfetti"/>
          <p:cNvSpPr/>
          <p:nvPr/>
        </p:nvSpPr>
        <p:spPr>
          <a:xfrm>
            <a:off x="10972799" y="1371600"/>
            <a:ext cx="140850" cy="140850"/>
          </a:xfrm>
          <a:prstGeom prst="ellipse">
            <a:avLst/>
          </a:prstGeom>
          <a:solidFill>
            <a:srgbClr val="17A6A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nfetti"/>
          <p:cNvSpPr/>
          <p:nvPr/>
        </p:nvSpPr>
        <p:spPr>
          <a:xfrm>
            <a:off x="10363199" y="4800600"/>
            <a:ext cx="108648" cy="108648"/>
          </a:xfrm>
          <a:prstGeom prst="ellipse">
            <a:avLst/>
          </a:prstGeom>
          <a:solidFill>
            <a:srgbClr val="EE7B1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nfetti"/>
          <p:cNvSpPr/>
          <p:nvPr/>
        </p:nvSpPr>
        <p:spPr>
          <a:xfrm>
            <a:off x="6095999" y="548640"/>
            <a:ext cx="97979" cy="97979"/>
          </a:xfrm>
          <a:prstGeom prst="ellipse">
            <a:avLst/>
          </a:prstGeom>
          <a:solidFill>
            <a:srgbClr val="D81E6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onfetti"/>
          <p:cNvSpPr/>
          <p:nvPr/>
        </p:nvSpPr>
        <p:spPr>
          <a:xfrm>
            <a:off x="3413759" y="6172200"/>
            <a:ext cx="101334" cy="101334"/>
          </a:xfrm>
          <a:prstGeom prst="ellipse">
            <a:avLst/>
          </a:prstGeom>
          <a:solidFill>
            <a:srgbClr val="1E63B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onfetti"/>
          <p:cNvSpPr/>
          <p:nvPr/>
        </p:nvSpPr>
        <p:spPr>
          <a:xfrm>
            <a:off x="8778239" y="6172200"/>
            <a:ext cx="128160" cy="128160"/>
          </a:xfrm>
          <a:prstGeom prst="ellipse">
            <a:avLst/>
          </a:prstGeom>
          <a:solidFill>
            <a:srgbClr val="7A3FB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onfetti"/>
          <p:cNvSpPr/>
          <p:nvPr/>
        </p:nvSpPr>
        <p:spPr>
          <a:xfrm>
            <a:off x="11582399" y="3086100"/>
            <a:ext cx="88639" cy="88639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orn_aipan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1440" y="6199632"/>
            <a:ext cx="12374879" cy="804672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818388" y="964692"/>
            <a:ext cx="118872" cy="118872"/>
          </a:xfrm>
          <a:prstGeom prst="ellipse">
            <a:avLst/>
          </a:prstGeom>
          <a:solidFill>
            <a:srgbClr val="F5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eyebrow"/>
          <p:cNvSpPr txBox="1"/>
          <p:nvPr/>
        </p:nvSpPr>
        <p:spPr>
          <a:xfrm>
            <a:off x="1078992" y="896112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250" b="0" i="0" spc="300" cap="all">
                <a:solidFill>
                  <a:srgbClr val="F2CE7B"/>
                </a:solidFill>
                <a:latin typeface="Montserrat"/>
              </a:rPr>
              <a:t>Your Moment On Stage</a:t>
            </a:r>
          </a:p>
        </p:txBody>
      </p:sp>
      <p:sp>
        <p:nvSpPr>
          <p:cNvPr id="19" name="title"/>
          <p:cNvSpPr txBox="1"/>
          <p:nvPr/>
        </p:nvSpPr>
        <p:spPr>
          <a:xfrm>
            <a:off x="822960" y="1325880"/>
            <a:ext cx="10546079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4800" b="0" i="0">
                <a:solidFill>
                  <a:srgbClr val="FFFDF7"/>
                </a:solidFill>
                <a:latin typeface="Playfair Display"/>
                <a:effectLst>
                  <a:outerShdw blurRad="228600" dist="38100" dir="5400000" rotWithShape="0">
                    <a:srgbClr val="000000">
                      <a:alpha val="45000"/>
                    </a:srgbClr>
                  </a:outerShdw>
                </a:effectLst>
              </a:rPr>
              <a:t>Showcase your talent — and win!</a:t>
            </a:r>
          </a:p>
        </p:txBody>
      </p:sp>
      <p:sp>
        <p:nvSpPr>
          <p:cNvPr id="20" name="body"/>
          <p:cNvSpPr txBox="1"/>
          <p:nvPr/>
        </p:nvSpPr>
        <p:spPr>
          <a:xfrm>
            <a:off x="822960" y="2697480"/>
            <a:ext cx="10546079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1800" b="0" i="0">
                <a:solidFill>
                  <a:srgbClr val="F2CE7B"/>
                </a:solidFill>
                <a:latin typeface="Poppins"/>
              </a:rPr>
              <a:t>Present the true beauty of Uttarakhand’s culture through your own creativity and performance.</a:t>
            </a:r>
          </a:p>
        </p:txBody>
      </p:sp>
      <p:sp>
        <p:nvSpPr>
          <p:cNvPr id="21" name="pill"/>
          <p:cNvSpPr/>
          <p:nvPr/>
        </p:nvSpPr>
        <p:spPr>
          <a:xfrm>
            <a:off x="3627119" y="3749039"/>
            <a:ext cx="4937760" cy="1965960"/>
          </a:xfrm>
          <a:prstGeom prst="roundRect">
            <a:avLst>
              <a:gd name="adj" fmla="val 11000"/>
            </a:avLst>
          </a:prstGeom>
          <a:solidFill>
            <a:srgbClr val="F5A81C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plabel"/>
          <p:cNvSpPr txBox="1"/>
          <p:nvPr/>
        </p:nvSpPr>
        <p:spPr>
          <a:xfrm>
            <a:off x="3627119" y="400507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700" b="1" i="0" spc="280" cap="all">
                <a:solidFill>
                  <a:srgbClr val="0A3B2C"/>
                </a:solidFill>
                <a:latin typeface="Montserrat"/>
              </a:rPr>
              <a:t>CASH PRIZE</a:t>
            </a:r>
          </a:p>
        </p:txBody>
      </p:sp>
      <p:sp>
        <p:nvSpPr>
          <p:cNvPr id="23" name="prize"/>
          <p:cNvSpPr txBox="1"/>
          <p:nvPr/>
        </p:nvSpPr>
        <p:spPr>
          <a:xfrm>
            <a:off x="3627119" y="4443984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400" b="1" i="0">
                <a:solidFill>
                  <a:srgbClr val="E23A2E"/>
                </a:solidFill>
                <a:latin typeface="Cinzel"/>
              </a:rPr>
              <a:t>₹ 11,000</a:t>
            </a:r>
          </a:p>
        </p:txBody>
      </p:sp>
      <p:sp>
        <p:nvSpPr>
          <p:cNvPr id="24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25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Compete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 p14:dur="1500">
        <p:fade/>
      </p:transition>
    </mc:Fallback>
  </mc:AlternateContent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000 0.00000 " pathEditMode="relative" ptsTypes="AA">
                                      <p:cBhvr additive="base">
                                        <p:cTn id="109" dur="19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15" dur="15000" autoRev="1" repeatCount="indefinite" accel="45000" decel="4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1" dur="12000" autoRev="1" repeatCount="indefinite" accel="45000" decel="4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7" dur="17000" autoRev="1" repeatCount="indefinite" accel="45000" decel="45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381 -0.00832 " pathEditMode="relative" ptsTypes="AA">
                                      <p:cBhvr additive="base">
                                        <p:cTn id="133" dur="10269" autoRev="1" repeatCount="indefinite" accel="45000" decel="45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881 0.00395 " pathEditMode="relative" ptsTypes="AA">
                                      <p:cBhvr additive="base">
                                        <p:cTn id="139" dur="11370" autoRev="1" repeatCount="indefinite" accel="45000" decel="45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591 -0.02225 " pathEditMode="relative" ptsTypes="AA">
                                      <p:cBhvr additive="base">
                                        <p:cTn id="145" dur="13396" autoRev="1" repeatCount="indefinite" accel="45000" decel="45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678 0.02615 " pathEditMode="relative" ptsTypes="AA">
                                      <p:cBhvr additive="base">
                                        <p:cTn id="151" dur="11144" autoRev="1" repeatCount="indefinite" accel="45000" decel="4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565 0.02631 " pathEditMode="relative" ptsTypes="AA">
                                      <p:cBhvr additive="base">
                                        <p:cTn id="157" dur="15608" autoRev="1" repeatCount="indefinite" accel="45000" decel="45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370 -0.02681 " pathEditMode="relative" ptsTypes="AA">
                                      <p:cBhvr additive="base">
                                        <p:cTn id="163" dur="11372" autoRev="1" repeatCount="indefinite" accel="45000" decel="45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391 0.02837 " pathEditMode="relative" ptsTypes="AA">
                                      <p:cBhvr additive="base">
                                        <p:cTn id="169" dur="12050" autoRev="1" repeatCount="indefinite" accel="45000" decel="45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35 0.01374 " pathEditMode="relative" ptsTypes="AA">
                                      <p:cBhvr additive="base">
                                        <p:cTn id="175" dur="13144" autoRev="1" repeatCount="indefinite" accel="45000" decel="45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1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42" presetClass="entr" presetSubtype="4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196" dur="1400" decel="7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1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2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1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7" dur="1100" decel="650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1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4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1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Motion origin="layout" path="M 0 0.03500 L 0 0 " pathEditMode="relative" ptsTypes="AA">
                                      <p:cBhvr additive="base">
                                        <p:cTn id="238" dur="1200" decel="7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D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3" name="Picture 2" descr="orn_mandala_soft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7254239" y="2103120"/>
            <a:ext cx="5852160" cy="5852160"/>
          </a:xfrm>
          <a:prstGeom prst="rect">
            <a:avLst/>
          </a:prstGeom>
        </p:spPr>
      </p:pic>
      <p:pic>
        <p:nvPicPr>
          <p:cNvPr id="4" name="Picture 3" descr="fx_petals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5" name="Picture 4" descr="fx_pollen.png"/>
          <p:cNvPicPr>
            <a:picLocks noChangeAspect="1"/>
          </p:cNvPicPr>
          <p:nvPr/>
        </p:nvPicPr>
        <p:blipFill>
          <a:blip r:embed="rId5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6" name="confetti"/>
          <p:cNvSpPr/>
          <p:nvPr/>
        </p:nvSpPr>
        <p:spPr>
          <a:xfrm>
            <a:off x="731519" y="1097280"/>
            <a:ext cx="99563" cy="99563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onfetti"/>
          <p:cNvSpPr/>
          <p:nvPr/>
        </p:nvSpPr>
        <p:spPr>
          <a:xfrm>
            <a:off x="1950719" y="5486400"/>
            <a:ext cx="88887" cy="88887"/>
          </a:xfrm>
          <a:prstGeom prst="ellipse">
            <a:avLst/>
          </a:prstGeom>
          <a:solidFill>
            <a:srgbClr val="E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nfetti"/>
          <p:cNvSpPr/>
          <p:nvPr/>
        </p:nvSpPr>
        <p:spPr>
          <a:xfrm>
            <a:off x="10972799" y="1371600"/>
            <a:ext cx="140850" cy="140850"/>
          </a:xfrm>
          <a:prstGeom prst="ellipse">
            <a:avLst/>
          </a:prstGeom>
          <a:solidFill>
            <a:srgbClr val="17A6A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nfetti"/>
          <p:cNvSpPr/>
          <p:nvPr/>
        </p:nvSpPr>
        <p:spPr>
          <a:xfrm>
            <a:off x="10363199" y="4800600"/>
            <a:ext cx="108648" cy="108648"/>
          </a:xfrm>
          <a:prstGeom prst="ellipse">
            <a:avLst/>
          </a:prstGeom>
          <a:solidFill>
            <a:srgbClr val="EE7B1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onfetti"/>
          <p:cNvSpPr/>
          <p:nvPr/>
        </p:nvSpPr>
        <p:spPr>
          <a:xfrm>
            <a:off x="6095999" y="548640"/>
            <a:ext cx="97979" cy="97979"/>
          </a:xfrm>
          <a:prstGeom prst="ellipse">
            <a:avLst/>
          </a:prstGeom>
          <a:solidFill>
            <a:srgbClr val="D81E6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nfetti"/>
          <p:cNvSpPr/>
          <p:nvPr/>
        </p:nvSpPr>
        <p:spPr>
          <a:xfrm>
            <a:off x="3413759" y="6172200"/>
            <a:ext cx="101334" cy="101334"/>
          </a:xfrm>
          <a:prstGeom prst="ellipse">
            <a:avLst/>
          </a:prstGeom>
          <a:solidFill>
            <a:srgbClr val="1E63B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nfetti"/>
          <p:cNvSpPr/>
          <p:nvPr/>
        </p:nvSpPr>
        <p:spPr>
          <a:xfrm>
            <a:off x="8778239" y="6172200"/>
            <a:ext cx="128160" cy="128160"/>
          </a:xfrm>
          <a:prstGeom prst="ellipse">
            <a:avLst/>
          </a:prstGeom>
          <a:solidFill>
            <a:srgbClr val="7A3FB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onfetti"/>
          <p:cNvSpPr/>
          <p:nvPr/>
        </p:nvSpPr>
        <p:spPr>
          <a:xfrm>
            <a:off x="11582399" y="3086100"/>
            <a:ext cx="88639" cy="88639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orn_aipan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1440" y="-137160"/>
            <a:ext cx="12374879" cy="804672"/>
          </a:xfrm>
          <a:prstGeom prst="rect">
            <a:avLst/>
          </a:prstGeom>
        </p:spPr>
      </p:pic>
      <p:pic>
        <p:nvPicPr>
          <p:cNvPr id="15" name="Picture 14" descr="orn_aipan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1440" y="6199632"/>
            <a:ext cx="12374879" cy="804672"/>
          </a:xfrm>
          <a:prstGeom prst="rect">
            <a:avLst/>
          </a:prstGeom>
        </p:spPr>
      </p:pic>
      <p:sp>
        <p:nvSpPr>
          <p:cNvPr id="16" name="line"/>
          <p:cNvSpPr txBox="1"/>
          <p:nvPr/>
        </p:nvSpPr>
        <p:spPr>
          <a:xfrm>
            <a:off x="548640" y="2286000"/>
            <a:ext cx="11094719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2000"/>
              </a:lnSpc>
            </a:pPr>
            <a:r>
              <a:rPr sz="4200" b="0" i="0">
                <a:solidFill>
                  <a:srgbClr val="0A3B2C"/>
                </a:solidFill>
                <a:latin typeface="Playfair Display"/>
              </a:rPr>
              <a:t>Celebrate our traditions,</a:t>
            </a:r>
          </a:p>
          <a:p>
            <a:pPr algn="ctr">
              <a:lnSpc>
                <a:spcPct val="122000"/>
              </a:lnSpc>
            </a:pPr>
            <a:r>
              <a:rPr sz="4200" b="0" i="0">
                <a:solidFill>
                  <a:srgbClr val="0A3B2C"/>
                </a:solidFill>
                <a:latin typeface="Playfair Display"/>
              </a:rPr>
              <a:t>showcase your talent, and keep the</a:t>
            </a:r>
          </a:p>
          <a:p>
            <a:pPr algn="ctr">
              <a:lnSpc>
                <a:spcPct val="122000"/>
              </a:lnSpc>
              <a:spcBef>
                <a:spcPts val="600"/>
              </a:spcBef>
            </a:pPr>
            <a:r>
              <a:rPr sz="4200" b="0" i="0">
                <a:solidFill>
                  <a:srgbClr val="E23A2E"/>
                </a:solidFill>
                <a:latin typeface="Playfair Display"/>
              </a:rPr>
              <a:t>culture of Uttarakhand alive.</a:t>
            </a:r>
          </a:p>
        </p:txBody>
      </p:sp>
      <p:sp>
        <p:nvSpPr>
          <p:cNvPr id="17" name="fL"/>
          <p:cNvSpPr txBox="1"/>
          <p:nvPr/>
        </p:nvSpPr>
        <p:spPr>
          <a:xfrm>
            <a:off x="82296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950" b="0" i="0" spc="180" cap="all">
                <a:solidFill>
                  <a:srgbClr val="F2CE7B"/>
                </a:solidFill>
                <a:latin typeface="Montserrat"/>
                <a:cs typeface="Nirmala UI"/>
                <a:ea typeface="Nirmala UI"/>
              </a:rPr>
              <a:t>गढ़ कौथिग  ·  GARH KAUTHIG</a:t>
            </a:r>
          </a:p>
        </p:txBody>
      </p:sp>
      <p:sp>
        <p:nvSpPr>
          <p:cNvPr id="18" name="fR"/>
          <p:cNvSpPr txBox="1"/>
          <p:nvPr/>
        </p:nvSpPr>
        <p:spPr>
          <a:xfrm>
            <a:off x="6797039" y="6473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950" b="0" i="0" spc="160" cap="all">
                <a:solidFill>
                  <a:srgbClr val="D9A43A"/>
                </a:solidFill>
                <a:latin typeface="Montserrat"/>
              </a:rPr>
              <a:t>The Invitation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spd="slow" p14:dur="2200">
    <p:fade/>
  </p:transition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9" dur="24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00 0.00400 " pathEditMode="relative" ptsTypes="AA">
                                      <p:cBhvr additive="base">
                                        <p:cTn id="115" dur="21000" autoRev="1" repeatCount="indefinite" accel="45000" decel="4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21" dur="15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27" dur="12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3" dur="17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381 -0.00832 " pathEditMode="relative" ptsTypes="AA">
                                      <p:cBhvr additive="base">
                                        <p:cTn id="139" dur="10269" autoRev="1" repeatCount="indefinite" accel="45000" decel="4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881 0.00395 " pathEditMode="relative" ptsTypes="AA">
                                      <p:cBhvr additive="base">
                                        <p:cTn id="145" dur="11370" autoRev="1" repeatCount="indefinite" accel="45000" decel="4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591 -0.02225 " pathEditMode="relative" ptsTypes="AA">
                                      <p:cBhvr additive="base">
                                        <p:cTn id="151" dur="13396" autoRev="1" repeatCount="indefinite" accel="45000" decel="45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678 0.02615 " pathEditMode="relative" ptsTypes="AA">
                                      <p:cBhvr additive="base">
                                        <p:cTn id="157" dur="11144" autoRev="1" repeatCount="indefinite" accel="45000" decel="45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565 0.02631 " pathEditMode="relative" ptsTypes="AA">
                                      <p:cBhvr additive="base">
                                        <p:cTn id="163" dur="15608" autoRev="1" repeatCount="indefinite" accel="45000" decel="45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370 -0.02681 " pathEditMode="relative" ptsTypes="AA">
                                      <p:cBhvr additive="base">
                                        <p:cTn id="169" dur="11372" autoRev="1" repeatCount="indefinite" accel="45000" decel="4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391 0.02837 " pathEditMode="relative" ptsTypes="AA">
                                      <p:cBhvr additive="base">
                                        <p:cTn id="175" dur="12050" autoRev="1" repeatCount="indefinite" accel="45000" decel="45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35 0.01374 " pathEditMode="relative" ptsTypes="AA">
                                      <p:cBhvr additive="base">
                                        <p:cTn id="181" dur="13144" autoRev="1" repeatCount="indefinite" accel="45000" decel="45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4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1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Motion origin="layout" path="M 0 0.03000 L 0 0 " pathEditMode="relative" ptsTypes="AA">
                                      <p:cBhvr additive="base">
                                        <p:cTn id="193" dur="1800" decel="7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B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lob"/>
          <p:cNvSpPr/>
          <p:nvPr/>
        </p:nvSpPr>
        <p:spPr>
          <a:xfrm>
            <a:off x="-1463040" y="-1645920"/>
            <a:ext cx="4023360" cy="4023360"/>
          </a:xfrm>
          <a:prstGeom prst="ellipse">
            <a:avLst/>
          </a:prstGeom>
          <a:solidFill>
            <a:srgbClr val="D81E6A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lob"/>
          <p:cNvSpPr/>
          <p:nvPr/>
        </p:nvSpPr>
        <p:spPr>
          <a:xfrm>
            <a:off x="9448799" y="4114800"/>
            <a:ext cx="4572000" cy="4572000"/>
          </a:xfrm>
          <a:prstGeom prst="ellipse">
            <a:avLst/>
          </a:prstGeom>
          <a:solidFill>
            <a:srgbClr val="17A6A0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glow_gold.png"/>
          <p:cNvPicPr>
            <a:picLocks noChangeAspect="1"/>
          </p:cNvPicPr>
          <p:nvPr/>
        </p:nvPicPr>
        <p:blipFill>
          <a:blip r:embed="rId2">
            <a:alphaModFix amt="66000"/>
          </a:blip>
          <a:stretch>
            <a:fillRect/>
          </a:stretch>
        </p:blipFill>
        <p:spPr>
          <a:xfrm>
            <a:off x="1341119" y="-1463040"/>
            <a:ext cx="9509760" cy="9509760"/>
          </a:xfrm>
          <a:prstGeom prst="rect">
            <a:avLst/>
          </a:prstGeom>
        </p:spPr>
      </p:pic>
      <p:pic>
        <p:nvPicPr>
          <p:cNvPr id="5" name="Picture 4" descr="fx_petals.png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pic>
        <p:nvPicPr>
          <p:cNvPr id="6" name="Picture 5" descr="fx_pollen.png"/>
          <p:cNvPicPr>
            <a:picLocks noChangeAspect="1"/>
          </p:cNvPicPr>
          <p:nvPr/>
        </p:nvPicPr>
        <p:blipFill>
          <a:blip r:embed="rId4">
            <a:alphaModFix amt="66000"/>
          </a:blip>
          <a:stretch>
            <a:fillRect/>
          </a:stretch>
        </p:blipFill>
        <p:spPr>
          <a:xfrm>
            <a:off x="-1234440" y="-731520"/>
            <a:ext cx="14676120" cy="8321040"/>
          </a:xfrm>
          <a:prstGeom prst="rect">
            <a:avLst/>
          </a:prstGeom>
        </p:spPr>
      </p:pic>
      <p:sp>
        <p:nvSpPr>
          <p:cNvPr id="7" name="confetti"/>
          <p:cNvSpPr/>
          <p:nvPr/>
        </p:nvSpPr>
        <p:spPr>
          <a:xfrm>
            <a:off x="731519" y="1097280"/>
            <a:ext cx="99563" cy="99563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nfetti"/>
          <p:cNvSpPr/>
          <p:nvPr/>
        </p:nvSpPr>
        <p:spPr>
          <a:xfrm>
            <a:off x="1950719" y="5486400"/>
            <a:ext cx="88887" cy="88887"/>
          </a:xfrm>
          <a:prstGeom prst="ellipse">
            <a:avLst/>
          </a:prstGeom>
          <a:solidFill>
            <a:srgbClr val="E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nfetti"/>
          <p:cNvSpPr/>
          <p:nvPr/>
        </p:nvSpPr>
        <p:spPr>
          <a:xfrm>
            <a:off x="10972799" y="1371600"/>
            <a:ext cx="140850" cy="140850"/>
          </a:xfrm>
          <a:prstGeom prst="ellipse">
            <a:avLst/>
          </a:prstGeom>
          <a:solidFill>
            <a:srgbClr val="17A6A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onfetti"/>
          <p:cNvSpPr/>
          <p:nvPr/>
        </p:nvSpPr>
        <p:spPr>
          <a:xfrm>
            <a:off x="10363199" y="4800600"/>
            <a:ext cx="108648" cy="108648"/>
          </a:xfrm>
          <a:prstGeom prst="ellipse">
            <a:avLst/>
          </a:prstGeom>
          <a:solidFill>
            <a:srgbClr val="EE7B1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nfetti"/>
          <p:cNvSpPr/>
          <p:nvPr/>
        </p:nvSpPr>
        <p:spPr>
          <a:xfrm>
            <a:off x="6095999" y="548640"/>
            <a:ext cx="97979" cy="97979"/>
          </a:xfrm>
          <a:prstGeom prst="ellipse">
            <a:avLst/>
          </a:prstGeom>
          <a:solidFill>
            <a:srgbClr val="D81E6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nfetti"/>
          <p:cNvSpPr/>
          <p:nvPr/>
        </p:nvSpPr>
        <p:spPr>
          <a:xfrm>
            <a:off x="3413759" y="6172200"/>
            <a:ext cx="101334" cy="101334"/>
          </a:xfrm>
          <a:prstGeom prst="ellipse">
            <a:avLst/>
          </a:prstGeom>
          <a:solidFill>
            <a:srgbClr val="1E63B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onfetti"/>
          <p:cNvSpPr/>
          <p:nvPr/>
        </p:nvSpPr>
        <p:spPr>
          <a:xfrm>
            <a:off x="8778239" y="6172200"/>
            <a:ext cx="128160" cy="128160"/>
          </a:xfrm>
          <a:prstGeom prst="ellipse">
            <a:avLst/>
          </a:prstGeom>
          <a:solidFill>
            <a:srgbClr val="7A3FB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onfetti"/>
          <p:cNvSpPr/>
          <p:nvPr/>
        </p:nvSpPr>
        <p:spPr>
          <a:xfrm>
            <a:off x="11582399" y="3086100"/>
            <a:ext cx="88639" cy="88639"/>
          </a:xfrm>
          <a:prstGeom prst="ellipse">
            <a:avLst/>
          </a:prstGeom>
          <a:solidFill>
            <a:srgbClr val="F5A81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orn_aipan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1440" y="-137160"/>
            <a:ext cx="12374879" cy="804672"/>
          </a:xfrm>
          <a:prstGeom prst="rect">
            <a:avLst/>
          </a:prstGeom>
        </p:spPr>
      </p:pic>
      <p:pic>
        <p:nvPicPr>
          <p:cNvPr id="16" name="Picture 15" descr="orn_aipan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1440" y="6199632"/>
            <a:ext cx="12374879" cy="804672"/>
          </a:xfrm>
          <a:prstGeom prst="rect">
            <a:avLst/>
          </a:prstGeom>
        </p:spPr>
      </p:pic>
      <p:sp>
        <p:nvSpPr>
          <p:cNvPr id="17" name="ty"/>
          <p:cNvSpPr txBox="1"/>
          <p:nvPr/>
        </p:nvSpPr>
        <p:spPr>
          <a:xfrm>
            <a:off x="822960" y="2148840"/>
            <a:ext cx="10546079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000" b="1" i="0">
                <a:solidFill>
                  <a:srgbClr val="F5A81C"/>
                </a:solidFill>
                <a:latin typeface="Cinzel"/>
                <a:effectLst>
                  <a:outerShdw blurRad="304800" dist="50800" dir="5400000" rotWithShape="0">
                    <a:srgbClr val="000000">
                      <a:alpha val="55000"/>
                    </a:srgbClr>
                  </a:outerShdw>
                </a:effectLst>
              </a:rPr>
              <a:t>THANK YOU!</a:t>
            </a:r>
          </a:p>
        </p:txBody>
      </p:sp>
      <p:sp>
        <p:nvSpPr>
          <p:cNvPr id="18" name="sub"/>
          <p:cNvSpPr txBox="1"/>
          <p:nvPr/>
        </p:nvSpPr>
        <p:spPr>
          <a:xfrm>
            <a:off x="822960" y="4114800"/>
            <a:ext cx="10546079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 i="0" spc="200" cap="all">
                <a:solidFill>
                  <a:srgbClr val="F2CE7B"/>
                </a:solidFill>
                <a:latin typeface="Montserrat"/>
              </a:rPr>
              <a:t>Presented by the Swaragini Cultural Club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spd="slow" p14:dur="2200">
    <p:fade/>
  </p:transition>
  <p:timing xmlns:mc="http://schemas.openxmlformats.org/markup-compatibility/2006"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3" dur="11000" autoRev="1" repeatCount="indefinite" accel="45000" decel="45000" fill="hold"/>
                                        <p:tgtEl>
                                          <p:spTgt spid="4"/>
                                        </p:tgtEl>
                                      </p:cBhvr>
                                      <p:by x="109000" y="109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00 0.03000 " pathEditMode="relative" ptsTypes="AA">
                                      <p:cBhvr additive="base">
                                        <p:cTn id="109" dur="15000" autoRev="1" repeatCount="indefinite" accel="45000" decel="4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600 -0.02000 " pathEditMode="relative" ptsTypes="AA">
                                      <p:cBhvr additive="base">
                                        <p:cTn id="115" dur="12000" autoRev="1" repeatCount="indefinite" accel="45000" decel="4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6" presetClass="emp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1" dur="17000" autoRev="1" repeatCount="indefinite" accel="45000" decel="45000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381 -0.00832 " pathEditMode="relative" ptsTypes="AA">
                                      <p:cBhvr additive="base">
                                        <p:cTn id="127" dur="10269" autoRev="1" repeatCount="indefinite" accel="45000" decel="4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881 0.00395 " pathEditMode="relative" ptsTypes="AA">
                                      <p:cBhvr additive="base">
                                        <p:cTn id="133" dur="11370" autoRev="1" repeatCount="indefinite" accel="45000" decel="45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591 -0.02225 " pathEditMode="relative" ptsTypes="AA">
                                      <p:cBhvr additive="base">
                                        <p:cTn id="139" dur="13396" autoRev="1" repeatCount="indefinite" accel="45000" decel="45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678 0.02615 " pathEditMode="relative" ptsTypes="AA">
                                      <p:cBhvr additive="base">
                                        <p:cTn id="145" dur="11144" autoRev="1" repeatCount="indefinite" accel="45000" decel="45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565 0.02631 " pathEditMode="relative" ptsTypes="AA">
                                      <p:cBhvr additive="base">
                                        <p:cTn id="151" dur="15608" autoRev="1" repeatCount="indefinite" accel="45000" decel="4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370 -0.02681 " pathEditMode="relative" ptsTypes="AA">
                                      <p:cBhvr additive="base">
                                        <p:cTn id="157" dur="11372" autoRev="1" repeatCount="indefinite" accel="45000" decel="45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391 0.02837 " pathEditMode="relative" ptsTypes="AA">
                                      <p:cBhvr additive="base">
                                        <p:cTn id="163" dur="12050" autoRev="1" repeatCount="indefinite" accel="45000" decel="45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0" nodeType="withEffect" accel="45000" decel="45000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635 0.01374 " pathEditMode="relative" ptsTypes="AA">
                                      <p:cBhvr additive="base">
                                        <p:cTn id="169" dur="13144" autoRev="1" repeatCount="indefinite" accel="45000" decel="45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4" presetID="4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Motion origin="layout" path="M 0 0.04000 L 0 0 " pathEditMode="relative" ptsTypes="AA">
                                      <p:cBhvr additive="base">
                                        <p:cTn id="181" dur="1500" decel="7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1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